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76" r:id="rId3"/>
    <p:sldId id="275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90" r:id="rId14"/>
    <p:sldId id="286" r:id="rId15"/>
    <p:sldId id="287" r:id="rId16"/>
    <p:sldId id="288" r:id="rId17"/>
    <p:sldId id="257" r:id="rId18"/>
    <p:sldId id="289" r:id="rId19"/>
    <p:sldId id="274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9" r:id="rId53"/>
    <p:sldId id="308" r:id="rId54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585" autoAdjust="0"/>
  </p:normalViewPr>
  <p:slideViewPr>
    <p:cSldViewPr>
      <p:cViewPr varScale="1">
        <p:scale>
          <a:sx n="59" d="100"/>
          <a:sy n="59" d="100"/>
        </p:scale>
        <p:origin x="17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5752F-95CE-4A02-B965-255A606BF344}" type="datetimeFigureOut">
              <a:rPr lang="tr-TR" smtClean="0"/>
              <a:pPr/>
              <a:t>19.04.2025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C92F78-8AF2-4B13-AF0C-40EFDFEFBF3F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05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8691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5627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21932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70253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2571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89733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609087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0862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Precursor</a:t>
            </a:r>
            <a:r>
              <a:rPr lang="tr-TR" dirty="0"/>
              <a:t>: öncül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92F78-8AF2-4B13-AF0C-40EFDFEFBF3F}" type="slidenum">
              <a:rPr lang="tr-TR" smtClean="0"/>
              <a:pPr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03319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30" name="2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51B0F-AC3F-4BEF-8563-0386B42BB275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19" name="1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2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CEEC4-1EEC-4B2E-BA16-DCA4A4F33787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Serbest Form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D906-6AF6-4E6C-9ACC-24D111ED3475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FF003-A2D0-4047-8BD6-FA9B05EDADFE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E1A84-F92E-4E58-A23B-B89722ADEA37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20DC-AA65-41DB-BBA1-964C1D773751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DD345-BBE6-4098-BBC3-142AB2792338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8B263-502D-4F62-8F58-22C6C28A999D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EA3CD196-EB6F-4D11-A664-F790FE3E9786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9BF85-5295-4A2F-B728-CF90E1898FED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43ECF-B8B2-4BB5-B8C4-04465C3F7AB2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Serbest Form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Serbest Form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0" name="29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6F601AD-A10C-4E02-BDE9-9D4741DB16B9}" type="datetime1">
              <a:rPr lang="tr-TR" smtClean="0"/>
              <a:pPr/>
              <a:t>19.04.2025</a:t>
            </a:fld>
            <a:endParaRPr lang="tr-TR"/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3136A31F-AA39-4101-9270-11CFBB03BC01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592282" y="3357562"/>
            <a:ext cx="6480048" cy="2301240"/>
          </a:xfrm>
        </p:spPr>
        <p:txBody>
          <a:bodyPr/>
          <a:lstStyle/>
          <a:p>
            <a:r>
              <a:rPr lang="tr-TR" cap="none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Bilgisayar Görmesi</a:t>
            </a:r>
            <a:br>
              <a:rPr lang="tr-TR" b="1" cap="none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r>
              <a:rPr lang="tr-TR" sz="2800" b="1" cap="none" dirty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Ders </a:t>
            </a:r>
            <a:r>
              <a:rPr lang="tr-TR" sz="2800" cap="none" dirty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9</a:t>
            </a:r>
            <a:r>
              <a:rPr lang="tr-TR" sz="2800" b="1" cap="none" dirty="0">
                <a:ln>
                  <a:noFill/>
                </a:ln>
                <a:solidFill>
                  <a:srgbClr val="FFC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lang="tr-TR" sz="2900" dirty="0"/>
              <a:t>Parçalara Ayırma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5616" y="4365104"/>
            <a:ext cx="6480048" cy="1752600"/>
          </a:xfrm>
        </p:spPr>
        <p:txBody>
          <a:bodyPr/>
          <a:lstStyle/>
          <a:p>
            <a:pPr eaLnBrk="1" hangingPunct="1"/>
            <a:r>
              <a:rPr lang="tr-TR" dirty="0">
                <a:solidFill>
                  <a:schemeClr val="tx1"/>
                </a:solidFill>
              </a:rPr>
              <a:t>Dr. Öğr. Üyesi </a:t>
            </a:r>
            <a:r>
              <a:rPr lang="tr-TR">
                <a:solidFill>
                  <a:schemeClr val="tx1"/>
                </a:solidFill>
              </a:rPr>
              <a:t>Serap ÇAKAR KAMAN</a:t>
            </a:r>
            <a:endParaRPr lang="tr-TR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Görüntüyü Parçalara Ayırma</a:t>
            </a:r>
            <a:b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 sz="36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1"/>
            <a:ext cx="7467600" cy="1471610"/>
          </a:xfrm>
        </p:spPr>
        <p:txBody>
          <a:bodyPr/>
          <a:lstStyle/>
          <a:p>
            <a:r>
              <a:rPr lang="tr-TR" dirty="0"/>
              <a:t>Görüntüyü bileşenlerine veya nesnelerine ayırmaktır.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</a:t>
            </a:fld>
            <a:endParaRPr lang="tr-TR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1225427" y="3225699"/>
            <a:ext cx="2357454" cy="2906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5400000">
            <a:off x="5536413" y="3250405"/>
            <a:ext cx="2357454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Sağ Ok"/>
          <p:cNvSpPr/>
          <p:nvPr/>
        </p:nvSpPr>
        <p:spPr>
          <a:xfrm>
            <a:off x="4071934" y="4500570"/>
            <a:ext cx="857256" cy="5000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Görüntüyü Parçalara Ayırma</a:t>
            </a:r>
            <a:b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</a:br>
            <a:endParaRPr lang="tr-TR" sz="36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</a:t>
            </a:fld>
            <a:endParaRPr lang="tr-TR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869603" y="630670"/>
            <a:ext cx="5190477" cy="6500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28596" y="285728"/>
            <a:ext cx="7467600" cy="11430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Sınır Takibi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</a:t>
            </a:fld>
            <a:endParaRPr lang="tr-T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795130" y="1705144"/>
            <a:ext cx="3600000" cy="40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843702" y="1871414"/>
            <a:ext cx="3671438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8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Sınır Takibi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tr-TR" dirty="0"/>
              <a:t>Nasıl çalışır:</a:t>
            </a:r>
          </a:p>
          <a:p>
            <a:pPr>
              <a:buNone/>
            </a:pPr>
            <a:endParaRPr lang="tr-TR" dirty="0"/>
          </a:p>
          <a:p>
            <a:r>
              <a:rPr lang="tr-TR" dirty="0"/>
              <a:t>En yüksek grilik seviyesindeki ilk sınır noktasını tespit et</a:t>
            </a:r>
            <a:endParaRPr lang="en-US" dirty="0"/>
          </a:p>
          <a:p>
            <a:r>
              <a:rPr lang="tr-TR" dirty="0"/>
              <a:t>İlk sınır noktasını merkez alarak </a:t>
            </a:r>
            <a:r>
              <a:rPr lang="en-US" dirty="0"/>
              <a:t>3x3</a:t>
            </a:r>
            <a:r>
              <a:rPr lang="tr-TR" dirty="0"/>
              <a:t>’lük komşuluğu araştır,</a:t>
            </a:r>
            <a:r>
              <a:rPr lang="en-US" dirty="0"/>
              <a:t> </a:t>
            </a:r>
            <a:r>
              <a:rPr lang="tr-TR" dirty="0"/>
              <a:t>ikinci sınır noktası olarak maksimum grilik seviyeli komşuyu al</a:t>
            </a:r>
            <a:endParaRPr lang="en-US" dirty="0"/>
          </a:p>
          <a:p>
            <a:r>
              <a:rPr lang="tr-TR" dirty="0"/>
              <a:t>Bir sonraki sınır noktasını bulmak için o anki ve bir sonraki sınır noktalarının verilmesi ile </a:t>
            </a:r>
            <a:r>
              <a:rPr lang="tr-TR" dirty="0" err="1"/>
              <a:t>iteratif</a:t>
            </a:r>
            <a:r>
              <a:rPr lang="tr-TR" dirty="0"/>
              <a:t> bir şekilde devam et</a:t>
            </a:r>
          </a:p>
          <a:p>
            <a:pPr>
              <a:buNone/>
            </a:pPr>
            <a:endParaRPr lang="tr-TR" dirty="0"/>
          </a:p>
          <a:p>
            <a:pPr>
              <a:buNone/>
            </a:pPr>
            <a:r>
              <a:rPr lang="tr-TR" dirty="0"/>
              <a:t>	Bir sonraki sınır elemanını bulmak için</a:t>
            </a:r>
            <a:r>
              <a:rPr lang="en-US" dirty="0"/>
              <a:t>, </a:t>
            </a:r>
            <a:r>
              <a:rPr lang="tr-TR" dirty="0"/>
              <a:t>genellikle kenar </a:t>
            </a:r>
            <a:r>
              <a:rPr lang="tr-TR" dirty="0" err="1"/>
              <a:t>gradyan</a:t>
            </a:r>
            <a:r>
              <a:rPr lang="tr-TR" dirty="0"/>
              <a:t> büyüklükleri ve yönleri mümkün olan sınır devamı için pikseller halinde hesaplanır.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44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Sınır Takibi</a:t>
            </a:r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6</a:t>
            </a:fld>
            <a:endParaRPr lang="tr-T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722139" y="1063887"/>
            <a:ext cx="1643075" cy="43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4012795" y="2988073"/>
            <a:ext cx="2675752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6 Metin kutusu"/>
          <p:cNvSpPr txBox="1"/>
          <p:nvPr/>
        </p:nvSpPr>
        <p:spPr>
          <a:xfrm>
            <a:off x="6000760" y="2214554"/>
            <a:ext cx="285752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O anki sınır noktası</a:t>
            </a:r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Son sınır noktası</a:t>
            </a:r>
          </a:p>
          <a:p>
            <a:endParaRPr lang="tr-TR" sz="2000" dirty="0"/>
          </a:p>
          <a:p>
            <a:endParaRPr lang="tr-TR" sz="2000" dirty="0"/>
          </a:p>
          <a:p>
            <a:r>
              <a:rPr lang="tr-TR" sz="2000" dirty="0"/>
              <a:t>Bir sonraki sınır noktası için adaylar</a:t>
            </a:r>
          </a:p>
        </p:txBody>
      </p:sp>
      <p:sp>
        <p:nvSpPr>
          <p:cNvPr id="8" name="7 Dikdörtgen"/>
          <p:cNvSpPr/>
          <p:nvPr/>
        </p:nvSpPr>
        <p:spPr>
          <a:xfrm>
            <a:off x="714348" y="5286388"/>
            <a:ext cx="771530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/>
              <a:t>Bu algoritma gürültüsüz görüntüler için iyi çalışır. Takip yapılmadan önce görüntüden gürültü kaldırılmalıdır.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4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Bölge Genişletme 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28596" y="1357298"/>
            <a:ext cx="7786742" cy="50720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200" dirty="0"/>
              <a:t>Bölge genişletme</a:t>
            </a:r>
            <a:r>
              <a:rPr lang="en-US" sz="2200" dirty="0"/>
              <a:t> – </a:t>
            </a:r>
            <a:r>
              <a:rPr lang="tr-TR" sz="2200" dirty="0"/>
              <a:t>bölmenin tersi ve birleştirme yaklaşımıdır.</a:t>
            </a:r>
            <a:endParaRPr lang="en-US" sz="2200" dirty="0"/>
          </a:p>
          <a:p>
            <a:r>
              <a:rPr lang="tr-TR" sz="2200" dirty="0"/>
              <a:t>Küçük bölgeler benzerlik kısıtlamasına göre </a:t>
            </a:r>
            <a:r>
              <a:rPr lang="tr-TR" sz="2200" dirty="0" err="1"/>
              <a:t>iteratif</a:t>
            </a:r>
            <a:r>
              <a:rPr lang="tr-TR" sz="2200" dirty="0"/>
              <a:t> olarak birleştirilir.</a:t>
            </a:r>
            <a:endParaRPr lang="en-US" sz="2200" dirty="0"/>
          </a:p>
          <a:p>
            <a:r>
              <a:rPr lang="tr-TR" sz="2200" dirty="0"/>
              <a:t>İsteğe bağlı bir </a:t>
            </a:r>
            <a:r>
              <a:rPr lang="tr-TR" sz="22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çekirdek pikseli </a:t>
            </a:r>
            <a:r>
              <a:rPr lang="tr-TR" sz="2200" dirty="0"/>
              <a:t>seçilerek başlanır ve bu, komşu piksellerle karşılaştırılır.</a:t>
            </a:r>
            <a:endParaRPr lang="en-US" sz="2200" dirty="0"/>
          </a:p>
          <a:p>
            <a:r>
              <a:rPr lang="tr-TR" sz="2200" dirty="0"/>
              <a:t>Bölge çekirdek pikselinden başlayarak benzer komşu piksellerin eklenmesi ile boyutu büyütülerek genişletilir.</a:t>
            </a:r>
            <a:endParaRPr lang="en-US" sz="2200" dirty="0"/>
          </a:p>
          <a:p>
            <a:r>
              <a:rPr lang="tr-TR" sz="2200" dirty="0"/>
              <a:t>Bir bölgenin genişlemesi durduğunda henüz herhangi bir bölgeye ait olmayan başka bir çekirdek pikseli seçilir ve yeniden başlanır.</a:t>
            </a:r>
            <a:endParaRPr lang="en-US" sz="2200" dirty="0"/>
          </a:p>
          <a:p>
            <a:r>
              <a:rPr lang="tr-TR" sz="2200" dirty="0"/>
              <a:t>Bu işlemler bütün pikseller bir bölgeye ait oluncaya kadar devam eder.</a:t>
            </a:r>
            <a:endParaRPr lang="en-US" sz="2200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Bölge Genişletme </a:t>
            </a:r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8</a:t>
            </a:fld>
            <a:endParaRPr lang="tr-T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500174"/>
            <a:ext cx="4786346" cy="5086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Bölge Genişletme Örneği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Birkaç çatlak ve boşluk (görüntü boyunca yatay olarak görülen parlak beyaz çizgiler) içeren kaynağın x ışını ile çekilmiş görüntüsünü ele alalım</a:t>
            </a:r>
            <a:r>
              <a:rPr lang="en-US" dirty="0"/>
              <a:t> (</a:t>
            </a:r>
            <a:r>
              <a:rPr lang="tr-TR" dirty="0"/>
              <a:t>yatay siyah bölge</a:t>
            </a:r>
            <a:r>
              <a:rPr lang="en-US" dirty="0"/>
              <a:t>)</a:t>
            </a:r>
            <a:r>
              <a:rPr lang="tr-TR" dirty="0"/>
              <a:t>.</a:t>
            </a:r>
          </a:p>
          <a:p>
            <a:r>
              <a:rPr lang="tr-TR" dirty="0"/>
              <a:t>Bölgeyi genişletmek için başlangıç çekirdek noktalarına ihtiyaç duyarız.</a:t>
            </a:r>
          </a:p>
          <a:p>
            <a:r>
              <a:rPr lang="tr-TR" dirty="0" err="1"/>
              <a:t>Histograma</a:t>
            </a:r>
            <a:r>
              <a:rPr lang="tr-TR" dirty="0"/>
              <a:t> ve görüntüye baktığımızda çatlakların parlak olduğunu görürüz.</a:t>
            </a:r>
          </a:p>
          <a:p>
            <a:r>
              <a:rPr lang="tr-TR" dirty="0"/>
              <a:t>255 değerindeki bütün pikseller çekirdek olarak işaretlenir.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10</a:t>
            </a:fld>
            <a:endParaRPr lang="tr-T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2721760" y="-135751"/>
            <a:ext cx="2786083" cy="3486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2701971" y="2227195"/>
            <a:ext cx="3000396" cy="5261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Bölge Genişletme Örneği</a:t>
            </a:r>
            <a:endParaRPr lang="tr-TR" sz="40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err="1"/>
              <a:t>Histogramda</a:t>
            </a:r>
            <a:r>
              <a:rPr lang="tr-TR" dirty="0"/>
              <a:t> 190 civarında bir vadi bulunur.</a:t>
            </a:r>
          </a:p>
          <a:p>
            <a:r>
              <a:rPr lang="tr-TR" dirty="0"/>
              <a:t>190 değerinden büyük olan bir piksel çekirdek noktası bölgesinin bir parçası olarak ele alınabilir.</a:t>
            </a:r>
          </a:p>
          <a:p>
            <a:r>
              <a:rPr lang="tr-TR" dirty="0"/>
              <a:t>Piksel en azından biri bölgede olan 8 bağlı komşuya sahip olmalıdır.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12</a:t>
            </a:fld>
            <a:endParaRPr lang="tr-T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3199397" y="943951"/>
            <a:ext cx="2286018" cy="3398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3233990" y="2338118"/>
            <a:ext cx="2428894" cy="5896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i="1" dirty="0"/>
              <a:t>K</a:t>
            </a:r>
            <a:r>
              <a:rPr lang="en-US" sz="4000" dirty="0"/>
              <a:t>-means</a:t>
            </a:r>
            <a:r>
              <a:rPr lang="tr-TR" sz="4000" dirty="0"/>
              <a:t> kullanarak parçalara ayırma</a:t>
            </a:r>
            <a:endParaRPr lang="en-US" sz="4000" dirty="0"/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 cstate="print"/>
          <a:srcRect l="19054" t="6953" r="16447" b="10466"/>
          <a:stretch>
            <a:fillRect/>
          </a:stretch>
        </p:blipFill>
        <p:spPr bwMode="auto">
          <a:xfrm>
            <a:off x="1600200" y="1196752"/>
            <a:ext cx="2819400" cy="2706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2" name="Text Box 5"/>
          <p:cNvSpPr txBox="1">
            <a:spLocks noChangeArrowheads="1"/>
          </p:cNvSpPr>
          <p:nvPr/>
        </p:nvSpPr>
        <p:spPr bwMode="auto">
          <a:xfrm>
            <a:off x="2286000" y="4005064"/>
            <a:ext cx="1428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An image (</a:t>
            </a:r>
            <a:r>
              <a:rPr lang="en-US" i="1" dirty="0"/>
              <a:t>I</a:t>
            </a:r>
            <a:r>
              <a:rPr lang="en-US" dirty="0"/>
              <a:t>)</a:t>
            </a:r>
          </a:p>
        </p:txBody>
      </p:sp>
      <p:pic>
        <p:nvPicPr>
          <p:cNvPr id="22533" name="Picture 6"/>
          <p:cNvPicPr>
            <a:picLocks noChangeAspect="1" noChangeArrowheads="1"/>
          </p:cNvPicPr>
          <p:nvPr/>
        </p:nvPicPr>
        <p:blipFill>
          <a:blip r:embed="rId3" cstate="print"/>
          <a:srcRect l="20345" t="6953" r="16447" b="10466"/>
          <a:stretch>
            <a:fillRect/>
          </a:stretch>
        </p:blipFill>
        <p:spPr bwMode="auto">
          <a:xfrm>
            <a:off x="4876800" y="1268760"/>
            <a:ext cx="2743200" cy="2687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Text Box 7"/>
          <p:cNvSpPr txBox="1">
            <a:spLocks noChangeArrowheads="1"/>
          </p:cNvSpPr>
          <p:nvPr/>
        </p:nvSpPr>
        <p:spPr bwMode="auto">
          <a:xfrm>
            <a:off x="4667250" y="4005064"/>
            <a:ext cx="29273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dirty="0"/>
              <a:t>Three-cluster image (</a:t>
            </a:r>
            <a:r>
              <a:rPr lang="en-US" i="1" dirty="0"/>
              <a:t>J</a:t>
            </a:r>
            <a:r>
              <a:rPr lang="en-US" dirty="0"/>
              <a:t>) on </a:t>
            </a:r>
          </a:p>
          <a:p>
            <a:pPr algn="ctr"/>
            <a:r>
              <a:rPr lang="en-US" dirty="0"/>
              <a:t>gray values of </a:t>
            </a:r>
            <a:r>
              <a:rPr lang="en-US" i="1" dirty="0"/>
              <a:t>I</a:t>
            </a:r>
          </a:p>
        </p:txBody>
      </p:sp>
      <p:sp>
        <p:nvSpPr>
          <p:cNvPr id="8" name="7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9" name="8 Metin kutusu"/>
          <p:cNvSpPr txBox="1"/>
          <p:nvPr/>
        </p:nvSpPr>
        <p:spPr>
          <a:xfrm>
            <a:off x="1583160" y="5517232"/>
            <a:ext cx="7560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img</a:t>
            </a:r>
            <a:r>
              <a:rPr lang="tr-TR" dirty="0"/>
              <a:t> = </a:t>
            </a:r>
            <a:r>
              <a:rPr lang="tr-TR" dirty="0" err="1"/>
              <a:t>imread</a:t>
            </a:r>
            <a:r>
              <a:rPr lang="tr-TR" dirty="0"/>
              <a:t>('</a:t>
            </a:r>
            <a:r>
              <a:rPr lang="tr-TR" dirty="0" err="1"/>
              <a:t>mypic</a:t>
            </a:r>
            <a:r>
              <a:rPr lang="tr-TR" dirty="0"/>
              <a:t>.</a:t>
            </a:r>
            <a:r>
              <a:rPr lang="tr-TR" dirty="0" err="1"/>
              <a:t>jpg</a:t>
            </a:r>
            <a:r>
              <a:rPr lang="tr-TR" dirty="0"/>
              <a:t>');</a:t>
            </a:r>
          </a:p>
          <a:p>
            <a:r>
              <a:rPr lang="tr-TR" dirty="0" err="1"/>
              <a:t>flatImg</a:t>
            </a:r>
            <a:r>
              <a:rPr lang="tr-TR" dirty="0"/>
              <a:t> = </a:t>
            </a:r>
            <a:r>
              <a:rPr lang="tr-TR" dirty="0" err="1"/>
              <a:t>double</a:t>
            </a:r>
            <a:r>
              <a:rPr lang="tr-TR" dirty="0"/>
              <a:t>(</a:t>
            </a:r>
            <a:r>
              <a:rPr lang="tr-TR" dirty="0" err="1"/>
              <a:t>reshape</a:t>
            </a:r>
            <a:r>
              <a:rPr lang="tr-TR" dirty="0"/>
              <a:t>(</a:t>
            </a:r>
            <a:r>
              <a:rPr lang="tr-TR" dirty="0" err="1"/>
              <a:t>img</a:t>
            </a:r>
            <a:r>
              <a:rPr lang="tr-TR" dirty="0"/>
              <a:t>,size(</a:t>
            </a:r>
            <a:r>
              <a:rPr lang="tr-TR" dirty="0" err="1"/>
              <a:t>img</a:t>
            </a:r>
            <a:r>
              <a:rPr lang="tr-TR" dirty="0"/>
              <a:t>,1)*size(</a:t>
            </a:r>
            <a:r>
              <a:rPr lang="tr-TR" dirty="0" err="1"/>
              <a:t>img</a:t>
            </a:r>
            <a:r>
              <a:rPr lang="tr-TR" dirty="0"/>
              <a:t>,2),size(</a:t>
            </a:r>
            <a:r>
              <a:rPr lang="tr-TR" dirty="0" err="1"/>
              <a:t>img</a:t>
            </a:r>
            <a:r>
              <a:rPr lang="tr-TR" dirty="0"/>
              <a:t>,3))); </a:t>
            </a:r>
          </a:p>
          <a:p>
            <a:r>
              <a:rPr lang="tr-TR" dirty="0" err="1"/>
              <a:t>idx</a:t>
            </a:r>
            <a:r>
              <a:rPr lang="tr-TR" dirty="0"/>
              <a:t> = </a:t>
            </a:r>
            <a:r>
              <a:rPr lang="tr-TR" dirty="0" err="1"/>
              <a:t>kmeans</a:t>
            </a:r>
            <a:r>
              <a:rPr lang="tr-TR" dirty="0"/>
              <a:t>(</a:t>
            </a:r>
            <a:r>
              <a:rPr lang="tr-TR" dirty="0" err="1"/>
              <a:t>flatImg</a:t>
            </a:r>
            <a:r>
              <a:rPr lang="tr-TR" dirty="0"/>
              <a:t>,5); </a:t>
            </a:r>
            <a:r>
              <a:rPr lang="tr-TR" dirty="0" err="1"/>
              <a:t>imagesc</a:t>
            </a:r>
            <a:r>
              <a:rPr lang="tr-TR" dirty="0"/>
              <a:t>(</a:t>
            </a:r>
            <a:r>
              <a:rPr lang="tr-TR" dirty="0" err="1"/>
              <a:t>reshape</a:t>
            </a:r>
            <a:r>
              <a:rPr lang="tr-TR" dirty="0"/>
              <a:t>(</a:t>
            </a:r>
            <a:r>
              <a:rPr lang="tr-TR" dirty="0" err="1"/>
              <a:t>idx</a:t>
            </a:r>
            <a:r>
              <a:rPr lang="tr-TR" dirty="0"/>
              <a:t>,size(</a:t>
            </a:r>
            <a:r>
              <a:rPr lang="tr-TR" dirty="0" err="1"/>
              <a:t>img</a:t>
            </a:r>
            <a:r>
              <a:rPr lang="tr-TR" dirty="0"/>
              <a:t>,1),size(</a:t>
            </a:r>
            <a:r>
              <a:rPr lang="tr-TR" dirty="0" err="1"/>
              <a:t>img</a:t>
            </a:r>
            <a:r>
              <a:rPr lang="tr-TR" dirty="0"/>
              <a:t>,2)));</a:t>
            </a:r>
          </a:p>
        </p:txBody>
      </p:sp>
      <p:sp>
        <p:nvSpPr>
          <p:cNvPr id="10" name="9 Metin kutusu"/>
          <p:cNvSpPr txBox="1"/>
          <p:nvPr/>
        </p:nvSpPr>
        <p:spPr>
          <a:xfrm>
            <a:off x="1835696" y="4581129"/>
            <a:ext cx="561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 = double(</a:t>
            </a:r>
            <a:r>
              <a:rPr lang="en-US" dirty="0" err="1">
                <a:solidFill>
                  <a:schemeClr val="accent2"/>
                </a:solidFill>
              </a:rPr>
              <a:t>imread</a:t>
            </a:r>
            <a:r>
              <a:rPr lang="en-US" dirty="0">
                <a:solidFill>
                  <a:schemeClr val="accent2"/>
                </a:solidFill>
              </a:rPr>
              <a:t>(‘…'));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J = reshape(</a:t>
            </a:r>
            <a:r>
              <a:rPr lang="en-US" dirty="0" err="1">
                <a:solidFill>
                  <a:schemeClr val="accent2"/>
                </a:solidFill>
              </a:rPr>
              <a:t>kmeans</a:t>
            </a:r>
            <a:r>
              <a:rPr lang="en-US" dirty="0">
                <a:solidFill>
                  <a:schemeClr val="accent2"/>
                </a:solidFill>
              </a:rPr>
              <a:t>(I(:),3),size(I));</a:t>
            </a:r>
          </a:p>
          <a:p>
            <a:endParaRPr lang="tr-TR" dirty="0"/>
          </a:p>
        </p:txBody>
      </p:sp>
      <p:sp>
        <p:nvSpPr>
          <p:cNvPr id="11" name="10 Metin kutusu"/>
          <p:cNvSpPr txBox="1"/>
          <p:nvPr/>
        </p:nvSpPr>
        <p:spPr>
          <a:xfrm>
            <a:off x="323528" y="450912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Gri seviyeli</a:t>
            </a:r>
          </a:p>
          <a:p>
            <a:r>
              <a:rPr lang="tr-TR" dirty="0"/>
              <a:t>Görüntüler için</a:t>
            </a:r>
          </a:p>
        </p:txBody>
      </p:sp>
      <p:sp>
        <p:nvSpPr>
          <p:cNvPr id="12" name="11 Metin kutusu"/>
          <p:cNvSpPr txBox="1"/>
          <p:nvPr/>
        </p:nvSpPr>
        <p:spPr>
          <a:xfrm>
            <a:off x="251520" y="5661248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Renkli</a:t>
            </a:r>
          </a:p>
          <a:p>
            <a:r>
              <a:rPr lang="tr-TR" dirty="0"/>
              <a:t>Görüntüler için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3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İkili (</a:t>
            </a:r>
            <a:r>
              <a:rPr lang="tr-TR" sz="43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Binary</a:t>
            </a:r>
            <a:r>
              <a:rPr lang="tr-TR" sz="43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) Görüntüler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158" y="1428736"/>
            <a:ext cx="8072494" cy="5000660"/>
          </a:xfrm>
        </p:spPr>
        <p:txBody>
          <a:bodyPr>
            <a:noAutofit/>
          </a:bodyPr>
          <a:lstStyle/>
          <a:p>
            <a:r>
              <a:rPr lang="tr-TR" sz="1900" dirty="0"/>
              <a:t>Bunlar sadece iki grilik seviyesine sahiptir. </a:t>
            </a:r>
            <a:r>
              <a:rPr lang="en-US" sz="1900" dirty="0"/>
              <a:t> </a:t>
            </a:r>
            <a:r>
              <a:rPr lang="tr-TR" sz="1900" dirty="0"/>
              <a:t>İkili bir görüntü normalde görüntünün parçalara ayrılması sonucu ortaya çıkar.</a:t>
            </a:r>
            <a:endParaRPr lang="en-US" sz="1900" dirty="0"/>
          </a:p>
          <a:p>
            <a:r>
              <a:rPr lang="tr-TR" sz="1900" dirty="0"/>
              <a:t> Avantajları</a:t>
            </a:r>
          </a:p>
          <a:p>
            <a:pPr>
              <a:buNone/>
            </a:pPr>
            <a:r>
              <a:rPr lang="tr-TR" sz="1900" dirty="0"/>
              <a:t>	</a:t>
            </a:r>
            <a:r>
              <a:rPr lang="en-US" sz="1900" dirty="0"/>
              <a:t>- </a:t>
            </a:r>
            <a:r>
              <a:rPr lang="tr-TR" sz="1900" dirty="0"/>
              <a:t>Elde etmek kolaydır</a:t>
            </a:r>
            <a:r>
              <a:rPr lang="en-US" sz="1900" dirty="0"/>
              <a:t>: </a:t>
            </a:r>
            <a:r>
              <a:rPr lang="tr-TR" sz="1900" dirty="0"/>
              <a:t>basit dijital kameralar , düşük maliyetli tarayıcılar veya gri seviyeli görüntüye uygulanan </a:t>
            </a:r>
            <a:r>
              <a:rPr lang="tr-TR" sz="1900" dirty="0" err="1"/>
              <a:t>eşikleme</a:t>
            </a:r>
            <a:r>
              <a:rPr lang="tr-TR" sz="1900" dirty="0"/>
              <a:t> ile elde edilebilir. </a:t>
            </a:r>
          </a:p>
          <a:p>
            <a:pPr>
              <a:buNone/>
            </a:pPr>
            <a:r>
              <a:rPr lang="tr-TR" sz="1900" dirty="0"/>
              <a:t>	</a:t>
            </a:r>
            <a:r>
              <a:rPr lang="en-US" sz="1900" dirty="0"/>
              <a:t>- </a:t>
            </a:r>
            <a:r>
              <a:rPr lang="tr-TR" sz="1900" dirty="0"/>
              <a:t>Hafızada az yer kaplar</a:t>
            </a:r>
            <a:r>
              <a:rPr lang="en-US" sz="1900" dirty="0"/>
              <a:t>: 1 bit/pi</a:t>
            </a:r>
            <a:r>
              <a:rPr lang="tr-TR" sz="1900" dirty="0" err="1"/>
              <a:t>ks</a:t>
            </a:r>
            <a:r>
              <a:rPr lang="en-US" sz="1900" dirty="0"/>
              <a:t>el</a:t>
            </a:r>
            <a:r>
              <a:rPr lang="tr-TR" sz="1900" dirty="0"/>
              <a:t>’den daha fazla değildir</a:t>
            </a:r>
            <a:r>
              <a:rPr lang="en-US" sz="1900" dirty="0"/>
              <a:t>, </a:t>
            </a:r>
            <a:r>
              <a:rPr lang="tr-TR" sz="1900" dirty="0"/>
              <a:t>bu görüntüleri kodlama ile sıkıştırarak bunu daha da azaltmak mümkündür </a:t>
            </a:r>
            <a:r>
              <a:rPr lang="en-US" sz="1900" dirty="0"/>
              <a:t>(</a:t>
            </a:r>
            <a:r>
              <a:rPr lang="tr-TR" sz="1900" dirty="0"/>
              <a:t>örneğin</a:t>
            </a:r>
            <a:r>
              <a:rPr lang="en-US" sz="1900" dirty="0"/>
              <a:t> run-length </a:t>
            </a:r>
            <a:r>
              <a:rPr lang="tr-TR" sz="1900" dirty="0"/>
              <a:t>kodlaması</a:t>
            </a:r>
            <a:r>
              <a:rPr lang="en-US" sz="1900" dirty="0"/>
              <a:t>)</a:t>
            </a:r>
          </a:p>
          <a:p>
            <a:pPr>
              <a:buNone/>
            </a:pPr>
            <a:r>
              <a:rPr lang="tr-TR" sz="1900" dirty="0"/>
              <a:t>	</a:t>
            </a:r>
            <a:r>
              <a:rPr lang="en-US" sz="1900" dirty="0"/>
              <a:t>- </a:t>
            </a:r>
            <a:r>
              <a:rPr lang="tr-TR" sz="1900" dirty="0"/>
              <a:t>İşlemek kolaydır</a:t>
            </a:r>
            <a:r>
              <a:rPr lang="en-US" sz="1900" dirty="0"/>
              <a:t>: </a:t>
            </a:r>
            <a:r>
              <a:rPr lang="tr-TR" sz="1900" dirty="0"/>
              <a:t>algoritmalar çoğu durumda gri seviyeli görüntüye uygulanandan daha basittir.</a:t>
            </a:r>
            <a:endParaRPr lang="en-US" sz="1900" dirty="0"/>
          </a:p>
          <a:p>
            <a:r>
              <a:rPr lang="tr-TR" sz="1900" dirty="0"/>
              <a:t> </a:t>
            </a:r>
            <a:r>
              <a:rPr lang="tr-TR" sz="1900" dirty="0" err="1"/>
              <a:t>Dez</a:t>
            </a:r>
            <a:r>
              <a:rPr lang="tr-TR" sz="1900" dirty="0"/>
              <a:t> avantajları</a:t>
            </a:r>
          </a:p>
          <a:p>
            <a:pPr>
              <a:buNone/>
            </a:pPr>
            <a:r>
              <a:rPr lang="tr-TR" sz="1900" dirty="0"/>
              <a:t>	</a:t>
            </a:r>
            <a:r>
              <a:rPr lang="en-US" sz="1900" dirty="0"/>
              <a:t>- </a:t>
            </a:r>
            <a:r>
              <a:rPr lang="tr-TR" sz="1900" dirty="0"/>
              <a:t>Sınırlı uygulamalar</a:t>
            </a:r>
            <a:r>
              <a:rPr lang="en-US" sz="1900" dirty="0"/>
              <a:t>: </a:t>
            </a:r>
            <a:r>
              <a:rPr lang="tr-TR" sz="1900" dirty="0"/>
              <a:t>temsil etme sadece siluet halindedir</a:t>
            </a:r>
            <a:r>
              <a:rPr lang="en-US" sz="1900" dirty="0"/>
              <a:t>,</a:t>
            </a:r>
          </a:p>
          <a:p>
            <a:pPr>
              <a:buNone/>
            </a:pPr>
            <a:r>
              <a:rPr lang="tr-TR" sz="1900" dirty="0"/>
              <a:t>	iç detayların ayırt edici bir karakteristik olarak gerekmediği uygulamalar ile sınırlıdır.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14</a:t>
            </a:fld>
            <a:endParaRPr lang="tr-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İkili Görüntü İşleme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dirty="0"/>
              <a:t>Eğer başlangıç bölgesi yeterince tatmin edici değilse durumu geliştirmek için ikili görüntüye bazı işlemler uygulanabilir. </a:t>
            </a:r>
          </a:p>
          <a:p>
            <a:r>
              <a:rPr lang="tr-TR" dirty="0"/>
              <a:t>Avantajları:</a:t>
            </a:r>
          </a:p>
          <a:p>
            <a:pPr>
              <a:buNone/>
            </a:pPr>
            <a:r>
              <a:rPr lang="tr-TR" dirty="0"/>
              <a:t>	- gerçekleştirmek kolaydır</a:t>
            </a:r>
          </a:p>
          <a:p>
            <a:pPr>
              <a:buNone/>
            </a:pPr>
            <a:r>
              <a:rPr lang="tr-TR" dirty="0"/>
              <a:t>	- hızlıdır</a:t>
            </a:r>
          </a:p>
          <a:p>
            <a:r>
              <a:rPr lang="tr-TR" dirty="0"/>
              <a:t>İşlemler: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en-US" dirty="0"/>
              <a:t>- </a:t>
            </a:r>
            <a:r>
              <a:rPr lang="en-US" u="sng" dirty="0" err="1"/>
              <a:t>Mor</a:t>
            </a:r>
            <a:r>
              <a:rPr lang="tr-TR" u="sng" dirty="0" err="1"/>
              <a:t>folojik</a:t>
            </a:r>
            <a:r>
              <a:rPr lang="tr-TR" u="sng" dirty="0"/>
              <a:t> işlemler</a:t>
            </a:r>
            <a:r>
              <a:rPr lang="en-US" u="sng" dirty="0"/>
              <a:t> </a:t>
            </a:r>
            <a:r>
              <a:rPr lang="en-US" dirty="0"/>
              <a:t>– </a:t>
            </a:r>
            <a:r>
              <a:rPr lang="tr-TR" dirty="0"/>
              <a:t>komşu piksellerin desenine dayalı piksel ekleme veya çıkarma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en-US" dirty="0"/>
              <a:t>- </a:t>
            </a:r>
            <a:r>
              <a:rPr lang="tr-TR" u="sng" dirty="0" err="1"/>
              <a:t>Boolean</a:t>
            </a:r>
            <a:r>
              <a:rPr lang="tr-TR" u="sng" dirty="0"/>
              <a:t> işlemleri</a:t>
            </a:r>
            <a:r>
              <a:rPr lang="en-US" u="sng" dirty="0"/>
              <a:t> </a:t>
            </a:r>
            <a:r>
              <a:rPr lang="en-US" dirty="0"/>
              <a:t>– </a:t>
            </a:r>
            <a:r>
              <a:rPr lang="tr-TR" dirty="0"/>
              <a:t>birkaç ikili görüntü her bir piksele mantıksal işlem uygulanması ile kombine edilebilir.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15</a:t>
            </a:fld>
            <a:endParaRPr lang="tr-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6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Yapılandırma Elemanı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5043494" cy="4525963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Görüntüyü işlemek için </a:t>
            </a:r>
            <a:r>
              <a:rPr lang="tr-TR" i="1" dirty="0"/>
              <a:t>yapılandırma elemanının </a:t>
            </a:r>
            <a:r>
              <a:rPr lang="tr-TR" dirty="0"/>
              <a:t>şekline ve büyüklüğüne bağlı olarak bir görüntüdeki nesneden birkaç piksel eklenir veya çıkarılır </a:t>
            </a:r>
          </a:p>
          <a:p>
            <a:r>
              <a:rPr lang="tr-TR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Yapılandırma Elemanı </a:t>
            </a:r>
            <a:r>
              <a:rPr lang="tr-TR" dirty="0"/>
              <a:t>isteğe bağlı bir şekilde sıfır ve birlerden oluşan bir matristen oluşur ve giriş görüntüsünde arama yapmak için kullanılır.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16</a:t>
            </a:fld>
            <a:endParaRPr lang="tr-TR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29256" y="1357298"/>
            <a:ext cx="32956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MOR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</a:t>
            </a: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OLO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JİK</a:t>
            </a: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VE</a:t>
            </a: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DİĞER ALAN İŞLEMLERİ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7829576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b="1" dirty="0"/>
              <a:t>	</a:t>
            </a:r>
            <a:r>
              <a:rPr lang="en-US" sz="28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Mor</a:t>
            </a:r>
            <a:r>
              <a:rPr lang="tr-TR" sz="28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folojinin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Tanımı</a:t>
            </a:r>
          </a:p>
          <a:p>
            <a:pPr>
              <a:buNone/>
            </a:pPr>
            <a:r>
              <a:rPr lang="tr-TR" dirty="0"/>
              <a:t>	Morfoloji kelimesinin anlamı “bir nesnenin yapısı ve biçimi” bir nesnenin parçaları arasındaki düzenleme veya ilişkidir.</a:t>
            </a:r>
            <a:r>
              <a:rPr lang="en-US" dirty="0"/>
              <a:t> </a:t>
            </a:r>
            <a:r>
              <a:rPr lang="tr-TR" dirty="0"/>
              <a:t>Morfoloji şekille ilgilidir ve dijital </a:t>
            </a:r>
            <a:r>
              <a:rPr lang="tr-TR"/>
              <a:t>morfoloji dijital </a:t>
            </a:r>
            <a:r>
              <a:rPr lang="tr-TR" dirty="0"/>
              <a:t>(çoğu hücresel olan) nesnelerin şeklini tanımlamak veya analiz etmek için bir yoldur.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17</a:t>
            </a:fld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46"/>
          </a:xfrm>
        </p:spPr>
        <p:txBody>
          <a:bodyPr>
            <a:normAutofit/>
          </a:bodyPr>
          <a:lstStyle/>
          <a:p>
            <a:r>
              <a:rPr lang="tr-TR" sz="32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Temel Morfolojik İşlemler</a:t>
            </a:r>
            <a:endParaRPr lang="tr-TR" sz="32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285860"/>
            <a:ext cx="7972452" cy="5572140"/>
          </a:xfrm>
        </p:spPr>
        <p:txBody>
          <a:bodyPr>
            <a:noAutofit/>
          </a:bodyPr>
          <a:lstStyle/>
          <a:p>
            <a:r>
              <a:rPr lang="tr-TR" sz="2300" dirty="0"/>
              <a:t>İkili (b</a:t>
            </a:r>
            <a:r>
              <a:rPr lang="en-US" sz="2300" dirty="0" err="1"/>
              <a:t>inary</a:t>
            </a:r>
            <a:r>
              <a:rPr lang="tr-TR" sz="2300" dirty="0"/>
              <a:t>)</a:t>
            </a:r>
            <a:r>
              <a:rPr lang="en-US" sz="2300" dirty="0"/>
              <a:t> </a:t>
            </a:r>
            <a:r>
              <a:rPr lang="tr-TR" sz="2300" dirty="0"/>
              <a:t>morfolojik işlemler iki seviyeli görüntülerde tanımlanır</a:t>
            </a:r>
            <a:r>
              <a:rPr lang="en-US" sz="2300" dirty="0"/>
              <a:t>; </a:t>
            </a:r>
            <a:r>
              <a:rPr lang="tr-TR" sz="2300" dirty="0"/>
              <a:t>öyle ki</a:t>
            </a:r>
            <a:r>
              <a:rPr lang="en-US" sz="2300" dirty="0"/>
              <a:t>, </a:t>
            </a:r>
            <a:r>
              <a:rPr lang="tr-TR" sz="2300" dirty="0"/>
              <a:t>görüntüler sadece siyah ve beyaz piksel içerir.</a:t>
            </a:r>
            <a:r>
              <a:rPr lang="en-US" sz="2300" dirty="0"/>
              <a:t> </a:t>
            </a:r>
            <a:r>
              <a:rPr lang="tr-TR" sz="2300" dirty="0"/>
              <a:t>Başlangıç için</a:t>
            </a:r>
            <a:r>
              <a:rPr lang="en-US" sz="2300" dirty="0"/>
              <a:t>, </a:t>
            </a:r>
            <a:r>
              <a:rPr lang="tr-TR" sz="2300" dirty="0"/>
              <a:t>Şekil 1.</a:t>
            </a:r>
            <a:r>
              <a:rPr lang="tr-TR" sz="2300" dirty="0" err="1"/>
              <a:t>a’daki</a:t>
            </a:r>
            <a:r>
              <a:rPr lang="tr-TR" sz="2300" dirty="0"/>
              <a:t> kare nesnedeki siyah pikseller kümesini içeren görüntüyü ele alalım..</a:t>
            </a:r>
            <a:r>
              <a:rPr lang="en-US" sz="2300" dirty="0"/>
              <a:t> </a:t>
            </a:r>
            <a:r>
              <a:rPr lang="tr-TR" sz="2300" dirty="0"/>
              <a:t>Şekil 1.</a:t>
            </a:r>
            <a:r>
              <a:rPr lang="tr-TR" sz="2300" dirty="0" err="1"/>
              <a:t>b’deki</a:t>
            </a:r>
            <a:r>
              <a:rPr lang="tr-TR" sz="2300" dirty="0"/>
              <a:t> nesne de karedir, fakat bütün yönlerde bir piksel daha geniştir. Bu siyah piksellere komşu olan beyaz piksellerin siyaha dönüştürülmesiyle bir önceki kareden elde edilmiştir.</a:t>
            </a:r>
            <a:r>
              <a:rPr lang="en-US" sz="2300" dirty="0"/>
              <a:t> </a:t>
            </a:r>
            <a:r>
              <a:rPr lang="tr-TR" sz="2300" dirty="0"/>
              <a:t>Bu </a:t>
            </a:r>
            <a:r>
              <a:rPr lang="tr-TR" sz="2300" dirty="0" err="1"/>
              <a:t>binary</a:t>
            </a:r>
            <a:r>
              <a:rPr lang="tr-TR" sz="2300" dirty="0"/>
              <a:t> genişleme anlamına gelir, çünkü orijinal nesnenin genişlemesine neden olur.</a:t>
            </a:r>
            <a:r>
              <a:rPr lang="en-US" sz="2300" dirty="0"/>
              <a:t> </a:t>
            </a:r>
            <a:r>
              <a:rPr lang="tr-TR" sz="2300" dirty="0"/>
              <a:t>Şekil 1.c, 1.</a:t>
            </a:r>
            <a:r>
              <a:rPr lang="tr-TR" sz="2300" dirty="0" err="1"/>
              <a:t>b’nin</a:t>
            </a:r>
            <a:r>
              <a:rPr lang="tr-TR" sz="2300" dirty="0"/>
              <a:t> bir piksel ile genişleme sonucunu gösterir</a:t>
            </a:r>
            <a:r>
              <a:rPr lang="en-US" sz="2300" dirty="0"/>
              <a:t>, </a:t>
            </a:r>
            <a:r>
              <a:rPr lang="tr-TR" sz="2300" dirty="0"/>
              <a:t>ki bu 1.</a:t>
            </a:r>
            <a:r>
              <a:rPr lang="tr-TR" sz="2300" dirty="0" err="1"/>
              <a:t>a’nın</a:t>
            </a:r>
            <a:r>
              <a:rPr lang="tr-TR" sz="2300" dirty="0"/>
              <a:t> iki piksel genişlemesine eşittir</a:t>
            </a:r>
            <a:r>
              <a:rPr lang="en-US" sz="2300" dirty="0"/>
              <a:t>, </a:t>
            </a:r>
            <a:r>
              <a:rPr lang="tr-TR" sz="2300" dirty="0"/>
              <a:t>bu işlem görüntü herhangi bir değişiklik göstermeyi durduruncaya kadar, bütün pikseller siyaha dönüşünceye kadar devam edebilir.</a:t>
            </a:r>
            <a:r>
              <a:rPr lang="en-US" sz="2300" dirty="0"/>
              <a:t> </a:t>
            </a:r>
            <a:endParaRPr lang="tr-TR" sz="2300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18</a:t>
            </a:fld>
            <a:endParaRPr lang="tr-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3200" b="1" dirty="0">
                <a:solidFill>
                  <a:srgbClr val="FFC000"/>
                </a:solidFill>
                <a:latin typeface="Arial" pitchFamily="34" charset="0"/>
                <a:cs typeface="Arial" pitchFamily="34" charset="0"/>
              </a:rPr>
              <a:t>Temel Morfolojik İşlemler</a:t>
            </a:r>
            <a:endParaRPr lang="tr-TR" sz="28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28596" y="4572008"/>
            <a:ext cx="7686700" cy="150019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tr-TR" b="1" dirty="0"/>
              <a:t>	Şekil 1.</a:t>
            </a:r>
            <a:r>
              <a:rPr lang="en-US" b="1" dirty="0"/>
              <a:t> </a:t>
            </a:r>
            <a:r>
              <a:rPr lang="tr-TR" dirty="0"/>
              <a:t>Küçük bir nesnede basit ikili genişlemenin etkileri</a:t>
            </a:r>
            <a:r>
              <a:rPr lang="en-US" dirty="0"/>
              <a:t> (a) </a:t>
            </a:r>
            <a:r>
              <a:rPr lang="en-US" dirty="0" err="1"/>
              <a:t>Ori</a:t>
            </a:r>
            <a:r>
              <a:rPr lang="tr-TR" dirty="0"/>
              <a:t>j</a:t>
            </a:r>
            <a:r>
              <a:rPr lang="en-US" dirty="0" err="1"/>
              <a:t>inal</a:t>
            </a:r>
            <a:r>
              <a:rPr lang="en-US" dirty="0"/>
              <a:t> </a:t>
            </a:r>
            <a:r>
              <a:rPr lang="tr-TR" dirty="0"/>
              <a:t>görüntü</a:t>
            </a:r>
            <a:r>
              <a:rPr lang="en-US" dirty="0"/>
              <a:t> (b) </a:t>
            </a:r>
            <a:r>
              <a:rPr lang="tr-TR" dirty="0"/>
              <a:t>Orijinal görüntünün 1 piksel genişletilmiş hali</a:t>
            </a:r>
            <a:r>
              <a:rPr lang="en-US" dirty="0"/>
              <a:t>, (c)  2 pi</a:t>
            </a:r>
            <a:r>
              <a:rPr lang="tr-TR" dirty="0" err="1"/>
              <a:t>ks</a:t>
            </a:r>
            <a:r>
              <a:rPr lang="en-US" dirty="0"/>
              <a:t>el</a:t>
            </a:r>
            <a:r>
              <a:rPr lang="tr-TR" dirty="0"/>
              <a:t> genişletilmiş hali.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267" y="1785926"/>
            <a:ext cx="7197195" cy="224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19</a:t>
            </a:fld>
            <a:endParaRPr lang="tr-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8077200" cy="6172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İkili Aşınma ve Genişleme</a:t>
            </a:r>
            <a:endParaRPr lang="en-US" sz="28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tr-TR" sz="2400" dirty="0"/>
              <a:t>Aşınma işlemi bir görüntüdeki siyah arka plandaki beyaz nesnelerin tek biçimli bir şekilde azalmasıdır. Azalma nesne çevresinin etrafında bir piksel ile yapılır.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sz="2400" dirty="0"/>
              <a:t>	İkili genişleme işlemi görüntüdeki siyah arka plandaki beyaz nesnenin boyutunu tek biçimli bir şekilde arttırır.</a:t>
            </a:r>
            <a:r>
              <a:rPr lang="en-US" sz="2400" dirty="0"/>
              <a:t> </a:t>
            </a:r>
            <a:r>
              <a:rPr lang="tr-TR" sz="2400" dirty="0"/>
              <a:t>Nesnenin boyutu nesnenin çevresinin etrafında bir piksel artar.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b="1" dirty="0"/>
              <a:t>	</a:t>
            </a:r>
            <a:r>
              <a:rPr lang="tr-TR" sz="2400" b="1" dirty="0"/>
              <a:t>Uygulamalar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tr-TR" sz="2400" dirty="0"/>
              <a:t>Aşınma leke denilen tek piksellik nesneler ve tek piksellik çıkıntılar gibi küçük anormallikleri görüntüden kaldırmak için kullanılır</a:t>
            </a:r>
            <a:r>
              <a:rPr lang="en-US" sz="2400" dirty="0"/>
              <a:t>. </a:t>
            </a:r>
            <a:r>
              <a:rPr lang="tr-TR" sz="2400" dirty="0"/>
              <a:t>Bir görüntüdeki çoklu aşınma işlemi birbirine dokunan görüntüleri ayrılıncaya kadar küçültür. Bu işlem nesne sayma işleminden önce faydalı olabilir. 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İkili genişleme işlemleri tek piksellik delikler ve tek piksellik çukurlar gibi küçük anormallikleri kaldırmak için kullanılır.</a:t>
            </a:r>
            <a:r>
              <a:rPr lang="en-US" sz="2400" dirty="0"/>
              <a:t> 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20</a:t>
            </a:fld>
            <a:endParaRPr lang="tr-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533400"/>
            <a:ext cx="8382000" cy="58674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/>
              <a:t>	</a:t>
            </a:r>
            <a:r>
              <a:rPr lang="tr-TR" sz="2400" dirty="0">
                <a:solidFill>
                  <a:schemeClr val="bg1"/>
                </a:solidFill>
              </a:rPr>
              <a:t>Genişleme işleminin çoklu uygulaması kırık nesneler tek parça halinde birleşinceye kadar genişletilir.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tr-TR" sz="2400" dirty="0">
                <a:solidFill>
                  <a:schemeClr val="bg1"/>
                </a:solidFill>
              </a:rPr>
              <a:t>Bu da nesne sayma işleminden önce faydalı olabilir.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tr-TR" sz="2400" b="1" dirty="0">
                <a:solidFill>
                  <a:schemeClr val="bg1"/>
                </a:solidFill>
              </a:rPr>
              <a:t>	Uygulama</a:t>
            </a:r>
            <a:r>
              <a:rPr lang="en-US" sz="2400" b="1" dirty="0">
                <a:solidFill>
                  <a:schemeClr val="bg1"/>
                </a:solidFill>
              </a:rPr>
              <a:t>: </a:t>
            </a:r>
            <a:r>
              <a:rPr lang="tr-TR" sz="2400" dirty="0">
                <a:solidFill>
                  <a:schemeClr val="bg1"/>
                </a:solidFill>
              </a:rPr>
              <a:t>Morfolojik yapılandırma elemanını tanımla ve morfolojik grup işlemini görüntü üzerinde gerçekleştir.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Tx/>
              <a:buNone/>
            </a:pPr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tr-TR" sz="2400" dirty="0">
                <a:solidFill>
                  <a:schemeClr val="bg1"/>
                </a:solidFill>
              </a:rPr>
              <a:t>Aşınma için çok yönlü, yatay, dikey ve çapraz yapılandırma elemanı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1071538" y="3786190"/>
          <a:ext cx="6553200" cy="171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63760" imgH="939600" progId="Equation.3">
                  <p:embed/>
                </p:oleObj>
              </mc:Choice>
              <mc:Fallback>
                <p:oleObj name="Equation" r:id="rId2" imgW="3263760" imgH="939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38" y="3786190"/>
                        <a:ext cx="6553200" cy="1714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976854" y="5324132"/>
            <a:ext cx="7596214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r-TR" dirty="0">
                <a:solidFill>
                  <a:schemeClr val="bg1"/>
                </a:solidFill>
              </a:rPr>
              <a:t>Çok yönlü	  Yatay</a:t>
            </a:r>
            <a:r>
              <a:rPr lang="en-US" dirty="0">
                <a:solidFill>
                  <a:schemeClr val="bg1"/>
                </a:solidFill>
              </a:rPr>
              <a:t>	 </a:t>
            </a:r>
            <a:r>
              <a:rPr lang="tr-TR" dirty="0">
                <a:solidFill>
                  <a:schemeClr val="bg1"/>
                </a:solidFill>
              </a:rPr>
              <a:t>     	  Dikey</a:t>
            </a:r>
            <a:r>
              <a:rPr lang="en-US" dirty="0">
                <a:solidFill>
                  <a:schemeClr val="bg1"/>
                </a:solidFill>
              </a:rPr>
              <a:t> 	</a:t>
            </a:r>
            <a:r>
              <a:rPr lang="tr-TR" dirty="0">
                <a:solidFill>
                  <a:schemeClr val="bg1"/>
                </a:solidFill>
              </a:rPr>
              <a:t>   	Çapraz</a:t>
            </a:r>
            <a:endParaRPr lang="en-US" dirty="0">
              <a:solidFill>
                <a:schemeClr val="bg1"/>
              </a:solidFill>
            </a:endParaRPr>
          </a:p>
          <a:p>
            <a:pPr eaLnBrk="0" hangingPunct="0">
              <a:spcBef>
                <a:spcPct val="50000"/>
              </a:spcBef>
            </a:pPr>
            <a:r>
              <a:rPr lang="tr-TR" dirty="0">
                <a:solidFill>
                  <a:schemeClr val="bg1"/>
                </a:solidFill>
              </a:rPr>
              <a:t>Y</a:t>
            </a:r>
            <a:r>
              <a:rPr lang="en-US" dirty="0">
                <a:solidFill>
                  <a:schemeClr val="bg1"/>
                </a:solidFill>
              </a:rPr>
              <a:t>Elem</a:t>
            </a:r>
            <a:r>
              <a:rPr lang="tr-TR" dirty="0">
                <a:solidFill>
                  <a:schemeClr val="bg1"/>
                </a:solidFill>
              </a:rPr>
              <a:t>anı</a:t>
            </a:r>
            <a:r>
              <a:rPr lang="en-US" dirty="0">
                <a:solidFill>
                  <a:schemeClr val="bg1"/>
                </a:solidFill>
              </a:rPr>
              <a:t>	 </a:t>
            </a:r>
            <a:r>
              <a:rPr lang="tr-TR" dirty="0">
                <a:solidFill>
                  <a:schemeClr val="bg1"/>
                </a:solidFill>
              </a:rPr>
              <a:t>Y</a:t>
            </a:r>
            <a:r>
              <a:rPr lang="en-US" dirty="0">
                <a:solidFill>
                  <a:schemeClr val="bg1"/>
                </a:solidFill>
              </a:rPr>
              <a:t>Elem</a:t>
            </a:r>
            <a:r>
              <a:rPr lang="tr-TR" dirty="0">
                <a:solidFill>
                  <a:schemeClr val="bg1"/>
                </a:solidFill>
              </a:rPr>
              <a:t>anı </a:t>
            </a: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tr-TR" dirty="0">
                <a:solidFill>
                  <a:schemeClr val="bg1"/>
                </a:solidFill>
              </a:rPr>
              <a:t> Y</a:t>
            </a:r>
            <a:r>
              <a:rPr lang="en-US" dirty="0">
                <a:solidFill>
                  <a:schemeClr val="bg1"/>
                </a:solidFill>
              </a:rPr>
              <a:t>Elem</a:t>
            </a:r>
            <a:r>
              <a:rPr lang="tr-TR" dirty="0">
                <a:solidFill>
                  <a:schemeClr val="bg1"/>
                </a:solidFill>
              </a:rPr>
              <a:t>anı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tr-TR" dirty="0">
                <a:solidFill>
                  <a:schemeClr val="bg1"/>
                </a:solidFill>
              </a:rPr>
              <a:t>         Y</a:t>
            </a:r>
            <a:r>
              <a:rPr lang="en-US" dirty="0">
                <a:solidFill>
                  <a:schemeClr val="bg1"/>
                </a:solidFill>
              </a:rPr>
              <a:t>Elem</a:t>
            </a:r>
            <a:r>
              <a:rPr lang="tr-TR" dirty="0">
                <a:solidFill>
                  <a:schemeClr val="bg1"/>
                </a:solidFill>
              </a:rPr>
              <a:t>anı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21</a:t>
            </a:fld>
            <a:endParaRPr lang="tr-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BINF5030\Img2\aa8.bmp"/>
          <p:cNvPicPr>
            <a:picLocks noChangeAspect="1" noChangeArrowheads="1"/>
          </p:cNvPicPr>
          <p:nvPr/>
        </p:nvPicPr>
        <p:blipFill>
          <a:blip r:embed="rId2" cstate="print">
            <a:lum contrast="12000"/>
          </a:blip>
          <a:srcRect/>
          <a:stretch>
            <a:fillRect/>
          </a:stretch>
        </p:blipFill>
        <p:spPr bwMode="auto">
          <a:xfrm>
            <a:off x="785786" y="214290"/>
            <a:ext cx="7696200" cy="5475287"/>
          </a:xfrm>
          <a:prstGeom prst="rect">
            <a:avLst/>
          </a:prstGeom>
          <a:noFill/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928662" y="5934670"/>
            <a:ext cx="7391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r-TR" dirty="0"/>
              <a:t>İkili aşınma ve genişleme işlemleri</a:t>
            </a:r>
            <a:r>
              <a:rPr lang="en-US" dirty="0"/>
              <a:t> - a- </a:t>
            </a:r>
            <a:r>
              <a:rPr lang="en-US" dirty="0" err="1"/>
              <a:t>ori</a:t>
            </a:r>
            <a:r>
              <a:rPr lang="tr-TR" dirty="0"/>
              <a:t>j</a:t>
            </a:r>
            <a:r>
              <a:rPr lang="en-US" dirty="0" err="1"/>
              <a:t>inal</a:t>
            </a:r>
            <a:r>
              <a:rPr lang="en-US" dirty="0"/>
              <a:t> </a:t>
            </a:r>
            <a:r>
              <a:rPr lang="tr-TR" dirty="0"/>
              <a:t>görüntü</a:t>
            </a:r>
            <a:r>
              <a:rPr lang="en-US" dirty="0"/>
              <a:t>, b- </a:t>
            </a:r>
            <a:r>
              <a:rPr lang="tr-TR" dirty="0"/>
              <a:t>zıtlık germeden sonra ikili görüntü</a:t>
            </a:r>
            <a:r>
              <a:rPr lang="en-US" dirty="0"/>
              <a:t> , c- </a:t>
            </a:r>
            <a:r>
              <a:rPr lang="tr-TR" dirty="0"/>
              <a:t>aşındırılmış görüntü</a:t>
            </a:r>
            <a:r>
              <a:rPr lang="en-US" dirty="0"/>
              <a:t>, d- </a:t>
            </a:r>
            <a:r>
              <a:rPr lang="tr-TR" dirty="0"/>
              <a:t>aşınma işlemi iki kere uygulanmış.</a:t>
            </a:r>
            <a:endParaRPr lang="en-US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22</a:t>
            </a:fld>
            <a:endParaRPr lang="tr-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026"/>
          <p:cNvSpPr txBox="1">
            <a:spLocks noChangeArrowheads="1"/>
          </p:cNvSpPr>
          <p:nvPr/>
        </p:nvSpPr>
        <p:spPr bwMode="auto">
          <a:xfrm>
            <a:off x="285720" y="428604"/>
            <a:ext cx="84582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Örnek</a:t>
            </a: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</a:p>
          <a:p>
            <a:pPr>
              <a:spcBef>
                <a:spcPct val="50000"/>
              </a:spcBef>
            </a:pPr>
            <a:r>
              <a:rPr lang="tr-TR" sz="2400" dirty="0"/>
              <a:t>Y</a:t>
            </a:r>
            <a:r>
              <a:rPr lang="en-US" sz="2400" dirty="0"/>
              <a:t>E = 3 x 3 </a:t>
            </a:r>
            <a:r>
              <a:rPr lang="tr-TR" sz="2400" dirty="0"/>
              <a:t>ve bütün elemanları bir olsun</a:t>
            </a:r>
            <a:r>
              <a:rPr lang="en-US" sz="2400" dirty="0"/>
              <a:t>.</a:t>
            </a:r>
          </a:p>
          <a:p>
            <a:pPr>
              <a:spcBef>
                <a:spcPct val="50000"/>
              </a:spcBef>
            </a:pPr>
            <a:r>
              <a:rPr lang="tr-TR" sz="2400" dirty="0"/>
              <a:t>Aşınma işlemi bütün dokuz eleman için ‘lojik olarak VE’ olarak tanımlanır;</a:t>
            </a:r>
            <a:endParaRPr lang="en-US" sz="2400" dirty="0"/>
          </a:p>
          <a:p>
            <a:pPr marL="695325" lvl="1" indent="-238125">
              <a:spcBef>
                <a:spcPct val="50000"/>
              </a:spcBef>
              <a:buFontTx/>
              <a:buChar char="•"/>
            </a:pPr>
            <a:r>
              <a:rPr lang="tr-TR" sz="2400" dirty="0"/>
              <a:t>Eğer giriş pikseli 1 ve tüm komşular 1 ise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tr-TR" sz="2400" dirty="0">
                <a:sym typeface="Symbol" pitchFamily="18" charset="2"/>
              </a:rPr>
              <a:t>çıkış pikseli 1’dir.</a:t>
            </a:r>
            <a:endParaRPr lang="en-US" sz="2400" dirty="0">
              <a:sym typeface="Symbol" pitchFamily="18" charset="2"/>
            </a:endParaRPr>
          </a:p>
          <a:p>
            <a:pPr marL="695325" lvl="1" indent="-238125">
              <a:spcBef>
                <a:spcPct val="50000"/>
              </a:spcBef>
              <a:buFontTx/>
              <a:buChar char="•"/>
            </a:pPr>
            <a:r>
              <a:rPr lang="tr-TR" sz="2400" dirty="0">
                <a:sym typeface="Symbol" pitchFamily="18" charset="2"/>
              </a:rPr>
              <a:t>Eğer giriş pikseli 1 ve komşulardan bazıları1 ve bazıları 0 ise,</a:t>
            </a:r>
            <a:r>
              <a:rPr lang="en-US" sz="2400" dirty="0">
                <a:sym typeface="Symbol" pitchFamily="18" charset="2"/>
              </a:rPr>
              <a:t> </a:t>
            </a:r>
            <a:r>
              <a:rPr lang="en-US" sz="2400" dirty="0"/>
              <a:t> </a:t>
            </a:r>
            <a:r>
              <a:rPr lang="tr-TR" sz="2400" dirty="0"/>
              <a:t>çıkış pikseli 0’dır.</a:t>
            </a:r>
            <a:endParaRPr lang="en-US" sz="2400" dirty="0"/>
          </a:p>
          <a:p>
            <a:pPr marL="695325" lvl="1" indent="-238125">
              <a:spcBef>
                <a:spcPct val="50000"/>
              </a:spcBef>
              <a:buFontTx/>
              <a:buChar char="•"/>
            </a:pPr>
            <a:r>
              <a:rPr lang="tr-TR" sz="2400" dirty="0">
                <a:sym typeface="Symbol" pitchFamily="18" charset="2"/>
              </a:rPr>
              <a:t>Eğer giriş pikseli 0 ve komşulardan bazıları 1 ve bazıları 0 ise,</a:t>
            </a:r>
            <a:r>
              <a:rPr lang="en-US" sz="2400" dirty="0">
                <a:sym typeface="Symbol" pitchFamily="18" charset="2"/>
              </a:rPr>
              <a:t> </a:t>
            </a:r>
            <a:r>
              <a:rPr lang="en-US" sz="2400" dirty="0"/>
              <a:t> </a:t>
            </a:r>
            <a:r>
              <a:rPr lang="tr-TR" sz="2400" dirty="0"/>
              <a:t>çıkış pikseli 0’dır.</a:t>
            </a:r>
            <a:endParaRPr lang="en-US" sz="2400" dirty="0"/>
          </a:p>
          <a:p>
            <a:pPr marL="695325" lvl="1" indent="-238125">
              <a:spcBef>
                <a:spcPct val="50000"/>
              </a:spcBef>
              <a:buFontTx/>
              <a:buChar char="•"/>
            </a:pPr>
            <a:r>
              <a:rPr lang="tr-TR" sz="2400" dirty="0"/>
              <a:t>Eğer giriş pikseli 0 ve tüm komşular 0 ise</a:t>
            </a:r>
            <a:r>
              <a:rPr lang="en-US" sz="2400" dirty="0"/>
              <a:t> </a:t>
            </a:r>
            <a:r>
              <a:rPr lang="en-US" sz="2400" dirty="0">
                <a:sym typeface="Symbol" pitchFamily="18" charset="2"/>
              </a:rPr>
              <a:t> </a:t>
            </a:r>
            <a:r>
              <a:rPr lang="tr-TR" sz="2400" dirty="0">
                <a:sym typeface="Symbol" pitchFamily="18" charset="2"/>
              </a:rPr>
              <a:t>çıkış pikseli 0’dır.</a:t>
            </a:r>
            <a:endParaRPr lang="en-US" sz="2400" dirty="0">
              <a:sym typeface="Symbol" pitchFamily="18" charset="2"/>
            </a:endParaRPr>
          </a:p>
          <a:p>
            <a:pPr>
              <a:spcBef>
                <a:spcPct val="50000"/>
              </a:spcBef>
            </a:pPr>
            <a:r>
              <a:rPr lang="tr-TR" sz="2400" dirty="0"/>
              <a:t>Genişleme işlemi aşınma işleminin tersidir.</a:t>
            </a:r>
            <a:endParaRPr lang="en-US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23</a:t>
            </a:fld>
            <a:endParaRPr lang="tr-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28596" y="428604"/>
            <a:ext cx="7848600" cy="857256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	</a:t>
            </a:r>
            <a:r>
              <a:rPr lang="tr-TR" sz="2400" dirty="0">
                <a:solidFill>
                  <a:schemeClr val="bg1"/>
                </a:solidFill>
              </a:rPr>
              <a:t>Genişleme için çok yönlü, yatay, dikey ve çapraz yapılandırma elemanı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  <a:endParaRPr lang="en-US" sz="2400" dirty="0"/>
          </a:p>
          <a:p>
            <a:pPr>
              <a:buFontTx/>
              <a:buNone/>
            </a:pPr>
            <a:endParaRPr lang="en-US" dirty="0"/>
          </a:p>
        </p:txBody>
      </p:sp>
      <p:graphicFrame>
        <p:nvGraphicFramePr>
          <p:cNvPr id="24576" name="Object 0"/>
          <p:cNvGraphicFramePr>
            <a:graphicFrameLocks noChangeAspect="1"/>
          </p:cNvGraphicFramePr>
          <p:nvPr/>
        </p:nvGraphicFramePr>
        <p:xfrm>
          <a:off x="857224" y="1428736"/>
          <a:ext cx="6858000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711000" progId="Equation.3">
                  <p:embed/>
                </p:oleObj>
              </mc:Choice>
              <mc:Fallback>
                <p:oleObj name="Equation" r:id="rId2" imgW="3377880" imgH="711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24" y="1428736"/>
                        <a:ext cx="6858000" cy="169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428596" y="3143248"/>
            <a:ext cx="81534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tr-TR" sz="2400" dirty="0">
                <a:solidFill>
                  <a:schemeClr val="bg1"/>
                </a:solidFill>
              </a:rPr>
              <a:t>Çok yönlü	      Yatay</a:t>
            </a:r>
            <a:r>
              <a:rPr lang="en-US" sz="2400" dirty="0">
                <a:solidFill>
                  <a:schemeClr val="bg1"/>
                </a:solidFill>
              </a:rPr>
              <a:t>	 </a:t>
            </a:r>
            <a:r>
              <a:rPr lang="tr-TR" sz="2400" dirty="0">
                <a:solidFill>
                  <a:schemeClr val="bg1"/>
                </a:solidFill>
              </a:rPr>
              <a:t>      Dikey</a:t>
            </a:r>
            <a:r>
              <a:rPr lang="en-US" sz="2400" dirty="0">
                <a:solidFill>
                  <a:schemeClr val="bg1"/>
                </a:solidFill>
              </a:rPr>
              <a:t> 	</a:t>
            </a:r>
            <a:r>
              <a:rPr lang="tr-TR" sz="2400" dirty="0">
                <a:solidFill>
                  <a:schemeClr val="bg1"/>
                </a:solidFill>
              </a:rPr>
              <a:t>      Çapraz</a:t>
            </a:r>
            <a:endParaRPr lang="en-US" sz="2400" dirty="0">
              <a:solidFill>
                <a:schemeClr val="bg1"/>
              </a:solidFill>
            </a:endParaRPr>
          </a:p>
          <a:p>
            <a:pPr eaLnBrk="0" hangingPunct="0">
              <a:spcBef>
                <a:spcPct val="50000"/>
              </a:spcBef>
            </a:pPr>
            <a:r>
              <a:rPr lang="tr-TR" sz="2400" dirty="0">
                <a:solidFill>
                  <a:schemeClr val="bg1"/>
                </a:solidFill>
              </a:rPr>
              <a:t>Y</a:t>
            </a:r>
            <a:r>
              <a:rPr lang="en-US" sz="2400" dirty="0">
                <a:solidFill>
                  <a:schemeClr val="bg1"/>
                </a:solidFill>
              </a:rPr>
              <a:t>Elem</a:t>
            </a:r>
            <a:r>
              <a:rPr lang="tr-TR" sz="2400" dirty="0">
                <a:solidFill>
                  <a:schemeClr val="bg1"/>
                </a:solidFill>
              </a:rPr>
              <a:t>anı</a:t>
            </a:r>
            <a:r>
              <a:rPr lang="en-US" sz="2400" dirty="0">
                <a:solidFill>
                  <a:schemeClr val="bg1"/>
                </a:solidFill>
              </a:rPr>
              <a:t>	 </a:t>
            </a:r>
            <a:r>
              <a:rPr lang="tr-TR" sz="2400" dirty="0">
                <a:solidFill>
                  <a:schemeClr val="bg1"/>
                </a:solidFill>
              </a:rPr>
              <a:t>Y</a:t>
            </a:r>
            <a:r>
              <a:rPr lang="en-US" sz="2400" dirty="0">
                <a:solidFill>
                  <a:schemeClr val="bg1"/>
                </a:solidFill>
              </a:rPr>
              <a:t>Elem</a:t>
            </a:r>
            <a:r>
              <a:rPr lang="tr-TR" sz="2400" dirty="0">
                <a:solidFill>
                  <a:schemeClr val="bg1"/>
                </a:solidFill>
              </a:rPr>
              <a:t>anı </a:t>
            </a:r>
            <a:r>
              <a:rPr lang="en-US" sz="2400" dirty="0">
                <a:solidFill>
                  <a:schemeClr val="bg1"/>
                </a:solidFill>
              </a:rPr>
              <a:t>	</a:t>
            </a:r>
            <a:r>
              <a:rPr lang="tr-TR" sz="2400" dirty="0">
                <a:solidFill>
                  <a:schemeClr val="bg1"/>
                </a:solidFill>
              </a:rPr>
              <a:t>    Y</a:t>
            </a:r>
            <a:r>
              <a:rPr lang="en-US" sz="2400" dirty="0">
                <a:solidFill>
                  <a:schemeClr val="bg1"/>
                </a:solidFill>
              </a:rPr>
              <a:t>Elem</a:t>
            </a:r>
            <a:r>
              <a:rPr lang="tr-TR" sz="2400" dirty="0">
                <a:solidFill>
                  <a:schemeClr val="bg1"/>
                </a:solidFill>
              </a:rPr>
              <a:t>anı</a:t>
            </a:r>
            <a:r>
              <a:rPr lang="en-US" sz="2400" dirty="0">
                <a:solidFill>
                  <a:schemeClr val="bg1"/>
                </a:solidFill>
              </a:rPr>
              <a:t>  </a:t>
            </a:r>
            <a:r>
              <a:rPr lang="tr-TR" sz="2400" dirty="0">
                <a:solidFill>
                  <a:schemeClr val="bg1"/>
                </a:solidFill>
              </a:rPr>
              <a:t>      Y</a:t>
            </a:r>
            <a:r>
              <a:rPr lang="en-US" sz="2400" dirty="0">
                <a:solidFill>
                  <a:schemeClr val="bg1"/>
                </a:solidFill>
              </a:rPr>
              <a:t>Elem</a:t>
            </a:r>
            <a:r>
              <a:rPr lang="tr-TR" sz="2400" dirty="0">
                <a:solidFill>
                  <a:schemeClr val="bg1"/>
                </a:solidFill>
              </a:rPr>
              <a:t>anı</a:t>
            </a:r>
            <a:endParaRPr lang="en-US" sz="2400" dirty="0">
              <a:solidFill>
                <a:schemeClr val="bg1"/>
              </a:solidFill>
            </a:endParaRPr>
          </a:p>
          <a:p>
            <a:pPr eaLnBrk="0" hangingPunct="0">
              <a:spcBef>
                <a:spcPct val="50000"/>
              </a:spcBef>
            </a:pPr>
            <a:endParaRPr lang="tr-TR" sz="2400" dirty="0">
              <a:solidFill>
                <a:schemeClr val="bg1"/>
              </a:solidFill>
            </a:endParaRPr>
          </a:p>
          <a:p>
            <a:pPr eaLnBrk="0" hangingPunct="0">
              <a:spcBef>
                <a:spcPct val="50000"/>
              </a:spcBef>
            </a:pPr>
            <a:r>
              <a:rPr lang="tr-TR" sz="2400" dirty="0">
                <a:solidFill>
                  <a:schemeClr val="bg1"/>
                </a:solidFill>
              </a:rPr>
              <a:t>Genelleştirilmiş genişleme maskesi 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tr-TR" sz="2400" dirty="0">
                <a:solidFill>
                  <a:schemeClr val="bg1"/>
                </a:solidFill>
              </a:rPr>
              <a:t>Y</a:t>
            </a:r>
            <a:r>
              <a:rPr lang="en-US" sz="2400" dirty="0">
                <a:solidFill>
                  <a:schemeClr val="bg1"/>
                </a:solidFill>
              </a:rPr>
              <a:t>E) – </a:t>
            </a:r>
            <a:r>
              <a:rPr lang="tr-TR" sz="2400" dirty="0">
                <a:solidFill>
                  <a:schemeClr val="bg1"/>
                </a:solidFill>
              </a:rPr>
              <a:t>bütün elemanlar sıfırdır ve işlem mantıksal (lojik) olarak VEYA işlemidir.</a:t>
            </a:r>
            <a:endParaRPr lang="en-US" sz="2400" dirty="0">
              <a:solidFill>
                <a:schemeClr val="bg1"/>
              </a:solidFill>
            </a:endParaRPr>
          </a:p>
          <a:p>
            <a:pPr eaLnBrk="0" hangingPunct="0">
              <a:spcBef>
                <a:spcPct val="50000"/>
              </a:spcBef>
            </a:pPr>
            <a:r>
              <a:rPr lang="tr-TR" sz="2400" dirty="0">
                <a:solidFill>
                  <a:schemeClr val="bg1"/>
                </a:solidFill>
              </a:rPr>
              <a:t>Genişleme işlemi nesnenin beyaz ve arka planın siyah olduğunu varsayar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24</a:t>
            </a:fld>
            <a:endParaRPr lang="tr-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533400" y="457201"/>
            <a:ext cx="77724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200" dirty="0"/>
              <a:t>Aşınma işlemi gibi genişleme işlemi de dört farklı giriş piksel durumunu göz önünde bulundurur. Bu durumlar</a:t>
            </a:r>
            <a:r>
              <a:rPr lang="en-US" sz="2200" dirty="0"/>
              <a:t>:</a:t>
            </a:r>
            <a:endParaRPr lang="tr-TR" sz="2200" dirty="0"/>
          </a:p>
          <a:p>
            <a:pPr marL="912813" lvl="1" indent="-455613">
              <a:spcBef>
                <a:spcPct val="50000"/>
              </a:spcBef>
              <a:buFontTx/>
              <a:buChar char="•"/>
            </a:pPr>
            <a:r>
              <a:rPr lang="tr-TR" sz="2200" dirty="0"/>
              <a:t>Eğer giriş pikseli 1 ve tüm komşular 1 ise</a:t>
            </a:r>
            <a:r>
              <a:rPr lang="en-US" sz="2200" dirty="0"/>
              <a:t> </a:t>
            </a:r>
            <a:r>
              <a:rPr lang="en-US" sz="2200" dirty="0">
                <a:sym typeface="Symbol" pitchFamily="18" charset="2"/>
              </a:rPr>
              <a:t> </a:t>
            </a:r>
            <a:r>
              <a:rPr lang="tr-TR" sz="2200" dirty="0">
                <a:sym typeface="Symbol" pitchFamily="18" charset="2"/>
              </a:rPr>
              <a:t>çıkış pikseli 1’dir.</a:t>
            </a:r>
            <a:endParaRPr lang="en-US" sz="2200" dirty="0">
              <a:sym typeface="Symbol" pitchFamily="18" charset="2"/>
            </a:endParaRPr>
          </a:p>
          <a:p>
            <a:pPr marL="912813" lvl="1" indent="-455613">
              <a:spcBef>
                <a:spcPct val="50000"/>
              </a:spcBef>
              <a:buFontTx/>
              <a:buChar char="•"/>
            </a:pPr>
            <a:r>
              <a:rPr lang="tr-TR" sz="2200" dirty="0">
                <a:sym typeface="Symbol" pitchFamily="18" charset="2"/>
              </a:rPr>
              <a:t>Eğer giriş pikseli 1 ve komşulardan bazıları1 ve bazıları 0 ise,</a:t>
            </a:r>
            <a:r>
              <a:rPr lang="en-US" sz="2200" dirty="0">
                <a:sym typeface="Symbol" pitchFamily="18" charset="2"/>
              </a:rPr>
              <a:t> </a:t>
            </a:r>
            <a:r>
              <a:rPr lang="en-US" sz="2200" dirty="0"/>
              <a:t> </a:t>
            </a:r>
            <a:r>
              <a:rPr lang="tr-TR" sz="2200" dirty="0"/>
              <a:t>çıkış pikseli 1’dir.</a:t>
            </a:r>
            <a:endParaRPr lang="en-US" sz="2200" dirty="0"/>
          </a:p>
          <a:p>
            <a:pPr marL="912813" lvl="1" indent="-455613">
              <a:spcBef>
                <a:spcPct val="50000"/>
              </a:spcBef>
              <a:buFontTx/>
              <a:buChar char="•"/>
            </a:pPr>
            <a:r>
              <a:rPr lang="tr-TR" sz="2200" dirty="0">
                <a:sym typeface="Symbol" pitchFamily="18" charset="2"/>
              </a:rPr>
              <a:t>Eğer giriş pikseli 0 ve komşulardan bazıları1 ve bazıları 0 ise,</a:t>
            </a:r>
            <a:r>
              <a:rPr lang="en-US" sz="2200" dirty="0">
                <a:sym typeface="Symbol" pitchFamily="18" charset="2"/>
              </a:rPr>
              <a:t> </a:t>
            </a:r>
            <a:r>
              <a:rPr lang="en-US" sz="2200" dirty="0"/>
              <a:t> </a:t>
            </a:r>
            <a:r>
              <a:rPr lang="tr-TR" sz="2200" dirty="0"/>
              <a:t>çıkış pikseli 1’dir.</a:t>
            </a:r>
            <a:endParaRPr lang="en-US" sz="2200" dirty="0"/>
          </a:p>
          <a:p>
            <a:pPr marL="912813" lvl="1" indent="-455613">
              <a:spcBef>
                <a:spcPct val="50000"/>
              </a:spcBef>
              <a:buFontTx/>
              <a:buChar char="•"/>
            </a:pPr>
            <a:r>
              <a:rPr lang="tr-TR" sz="2200" dirty="0"/>
              <a:t>Eğer giriş pikseli 0 ve tüm komşular 0 ise</a:t>
            </a:r>
            <a:r>
              <a:rPr lang="en-US" sz="2200" dirty="0"/>
              <a:t> </a:t>
            </a:r>
            <a:r>
              <a:rPr lang="en-US" sz="2200" dirty="0">
                <a:sym typeface="Symbol" pitchFamily="18" charset="2"/>
              </a:rPr>
              <a:t> </a:t>
            </a:r>
            <a:r>
              <a:rPr lang="tr-TR" sz="2200" dirty="0">
                <a:sym typeface="Symbol" pitchFamily="18" charset="2"/>
              </a:rPr>
              <a:t>çıkış pikseli 0’dır.</a:t>
            </a:r>
            <a:endParaRPr lang="en-US" sz="2200" dirty="0">
              <a:sym typeface="Symbol" pitchFamily="18" charset="2"/>
            </a:endParaRPr>
          </a:p>
          <a:p>
            <a:pPr marL="912813" lvl="1" indent="-455613">
              <a:spcBef>
                <a:spcPct val="50000"/>
              </a:spcBef>
            </a:pPr>
            <a:r>
              <a:rPr lang="en-US" sz="2200" b="1" dirty="0"/>
              <a:t>BW2 = </a:t>
            </a:r>
            <a:r>
              <a:rPr lang="tr-TR" sz="2200" b="1" dirty="0"/>
              <a:t>im</a:t>
            </a:r>
            <a:r>
              <a:rPr lang="en-US" sz="2200" b="1" dirty="0"/>
              <a:t>erode(BW1, </a:t>
            </a:r>
            <a:r>
              <a:rPr lang="tr-TR" sz="2200" b="1" dirty="0"/>
              <a:t>Y</a:t>
            </a:r>
            <a:r>
              <a:rPr lang="en-US" sz="2200" b="1" dirty="0"/>
              <a:t>E, n);  n </a:t>
            </a:r>
            <a:r>
              <a:rPr lang="tr-TR" sz="2200" b="1" dirty="0"/>
              <a:t>gerçekleştirilecek aşınma sayısı ve Y</a:t>
            </a:r>
            <a:r>
              <a:rPr lang="en-US" sz="2200" b="1" dirty="0"/>
              <a:t>E </a:t>
            </a:r>
            <a:r>
              <a:rPr lang="tr-TR" sz="2200" b="1" dirty="0"/>
              <a:t>yapılandırma elemanını tanımlar</a:t>
            </a:r>
            <a:endParaRPr lang="en-US" sz="2200" b="1" dirty="0"/>
          </a:p>
          <a:p>
            <a:pPr marL="912813" lvl="1" indent="-455613">
              <a:spcBef>
                <a:spcPct val="50000"/>
              </a:spcBef>
            </a:pPr>
            <a:r>
              <a:rPr lang="tr-TR" sz="2200" b="1" dirty="0">
                <a:solidFill>
                  <a:schemeClr val="accent2"/>
                </a:solidFill>
              </a:rPr>
              <a:t>Genişleme komutu aşınma komutuna benzer;</a:t>
            </a:r>
            <a:endParaRPr lang="en-US" sz="2200" dirty="0"/>
          </a:p>
          <a:p>
            <a:pPr lvl="1">
              <a:spcBef>
                <a:spcPct val="50000"/>
              </a:spcBef>
            </a:pPr>
            <a:r>
              <a:rPr lang="en-US" sz="2200" b="1" dirty="0"/>
              <a:t>IM2 = </a:t>
            </a:r>
            <a:r>
              <a:rPr lang="en-US" sz="2200" b="1" dirty="0" err="1"/>
              <a:t>imdilate</a:t>
            </a:r>
            <a:r>
              <a:rPr lang="en-US" sz="2200" b="1" dirty="0"/>
              <a:t>(IM, </a:t>
            </a:r>
            <a:r>
              <a:rPr lang="tr-TR" sz="2200" b="1" dirty="0"/>
              <a:t>Y</a:t>
            </a:r>
            <a:r>
              <a:rPr lang="en-US" sz="2200" b="1" dirty="0"/>
              <a:t>E)</a:t>
            </a:r>
            <a:r>
              <a:rPr lang="tr-TR" sz="2200" b="1" dirty="0"/>
              <a:t>;</a:t>
            </a:r>
            <a:endParaRPr lang="en-US" sz="2200" b="1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25</a:t>
            </a:fld>
            <a:endParaRPr lang="tr-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8077200" cy="5867400"/>
          </a:xfrm>
        </p:spPr>
        <p:txBody>
          <a:bodyPr>
            <a:normAutofit lnSpcReduction="10000"/>
          </a:bodyPr>
          <a:lstStyle/>
          <a:p>
            <a:pPr marL="0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İkili Açma ve Kapama</a:t>
            </a:r>
            <a:endParaRPr lang="en-US" sz="28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tr-TR" sz="2400" dirty="0"/>
              <a:t>İkili açma işlemi ikili aşınma işleminden sonra yapılan ikili genişleme işlemidir. Nesne genellikle aynı boyutta kalır.</a:t>
            </a:r>
            <a:endParaRPr lang="en-US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İkili kapama işlemi ikili genişleme işleminden sonra yapılan ikili aşınma işlemidir. Nesne aynı boyutta kalır.</a:t>
            </a:r>
            <a:endParaRPr lang="en-US" sz="2400" b="1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b="1" dirty="0"/>
              <a:t>Uygulamaları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endParaRPr lang="tr-TR" sz="2400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tr-TR" sz="2400" b="1" dirty="0"/>
              <a:t>	Açma işlemi</a:t>
            </a:r>
            <a:r>
              <a:rPr lang="en-US" sz="2400" b="1" dirty="0"/>
              <a:t>-</a:t>
            </a:r>
            <a:r>
              <a:rPr lang="en-US" sz="2400" dirty="0"/>
              <a:t> </a:t>
            </a:r>
            <a:r>
              <a:rPr lang="tr-TR" sz="2400" dirty="0"/>
              <a:t>tek piksellik nesneler ve tek piksellik çıkıntılar gibi küçük anormallikleri görüntüden kaldırmak için kullanılır. Aşınma nesnenin boyutunu küçülttüğünden ardından uygulanan genişleme nesneyi orijinal boyutuna dönüştürür.</a:t>
            </a:r>
            <a:r>
              <a:rPr lang="en-US" sz="2400" dirty="0"/>
              <a:t> </a:t>
            </a:r>
            <a:r>
              <a:rPr lang="tr-TR" sz="2400" dirty="0"/>
              <a:t>Bu işlem görüntüyü gürültüden ve diğer anormalliklerden temizler.</a:t>
            </a:r>
            <a:endParaRPr lang="en-US" sz="2400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b="1" dirty="0"/>
              <a:t>Kapama işlemi</a:t>
            </a:r>
            <a:r>
              <a:rPr lang="en-US" sz="2400" b="1" dirty="0"/>
              <a:t>- </a:t>
            </a:r>
            <a:r>
              <a:rPr lang="tr-TR" sz="2400" dirty="0"/>
              <a:t>genişleme işlemi tek piksellik delikleri ve tek piksellik girintileri kaldırır.</a:t>
            </a:r>
            <a:r>
              <a:rPr lang="en-US" sz="2400" dirty="0"/>
              <a:t> </a:t>
            </a:r>
            <a:r>
              <a:rPr lang="tr-TR" sz="2400" dirty="0"/>
              <a:t>Genişleme boyutu arttırdığından daha sonra uygulanan aşınma nesneyi orijinal boyutuna dönüştürür. Bu işlem, nesneyi deliklerden ve küçük anormalliklerden kurtarır.</a:t>
            </a:r>
            <a:endParaRPr lang="en-US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26</a:t>
            </a:fld>
            <a:endParaRPr lang="tr-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848600" cy="5867400"/>
          </a:xfrm>
        </p:spPr>
        <p:txBody>
          <a:bodyPr>
            <a:normAutofit/>
          </a:bodyPr>
          <a:lstStyle/>
          <a:p>
            <a:pPr marL="0">
              <a:lnSpc>
                <a:spcPct val="90000"/>
              </a:lnSpc>
              <a:spcBef>
                <a:spcPct val="50000"/>
              </a:spcBef>
              <a:buNone/>
            </a:pPr>
            <a:r>
              <a:rPr lang="tr-TR" sz="28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Outlining</a:t>
            </a: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 (Çerçeveleme)</a:t>
            </a:r>
            <a:endParaRPr lang="en-US" sz="28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en-US" sz="2400" dirty="0"/>
              <a:t>Outlining </a:t>
            </a:r>
            <a:r>
              <a:rPr lang="tr-TR" sz="2400" dirty="0"/>
              <a:t>işlemi orijinal görüntüden aşındırılmış versiyonunun çıkarılması ile oluşturulur. Sonuç görüntüsü orijinal görüntünün bir piksel genişliğindeki çerçevesini gösterir.</a:t>
            </a:r>
            <a:endParaRPr lang="en-US" sz="2400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tr-TR" sz="2400" b="1" dirty="0"/>
              <a:t>	Uygulamaları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tr-TR" sz="2400" dirty="0"/>
              <a:t>O</a:t>
            </a:r>
            <a:r>
              <a:rPr lang="en-US" sz="2400" dirty="0" err="1"/>
              <a:t>utlining</a:t>
            </a:r>
            <a:r>
              <a:rPr lang="en-US" sz="2400" dirty="0"/>
              <a:t> </a:t>
            </a:r>
            <a:r>
              <a:rPr lang="tr-TR" sz="2400" dirty="0"/>
              <a:t>işlemi nesneyi ölçmeden önce kullanılabilir. Çok yönlü erozyon yapılandırma elemanı kullanılarak bu işlem nesnelerin yönüne bakmaksızın onların çerçevesini üretir.</a:t>
            </a:r>
            <a:endParaRPr lang="en-US" sz="2400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Orijinal görüntüden aşındırılmış görüntüyü çıkarmadan önce çoklu aşınma operasyonu uygulanabilir.</a:t>
            </a:r>
            <a:r>
              <a:rPr lang="en-US" sz="2400" dirty="0"/>
              <a:t> </a:t>
            </a:r>
            <a:r>
              <a:rPr lang="tr-TR" sz="2400" dirty="0"/>
              <a:t>Bu işlem daha geniş bir çerçeve elde etmemizi sağlar.</a:t>
            </a:r>
            <a:endParaRPr lang="en-US" sz="2400" dirty="0"/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Yönlü çerçeveler yönlü elemanlar kullanılarak oluşturulabilir.</a:t>
            </a:r>
            <a:endParaRPr lang="en-US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27</a:t>
            </a:fld>
            <a:endParaRPr lang="tr-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BINF5030\Img2\aa9.bmp"/>
          <p:cNvPicPr>
            <a:picLocks noChangeAspect="1" noChangeArrowheads="1"/>
          </p:cNvPicPr>
          <p:nvPr/>
        </p:nvPicPr>
        <p:blipFill>
          <a:blip r:embed="rId2" cstate="print">
            <a:lum contrast="24000"/>
          </a:blip>
          <a:srcRect/>
          <a:stretch>
            <a:fillRect/>
          </a:stretch>
        </p:blipFill>
        <p:spPr bwMode="auto">
          <a:xfrm>
            <a:off x="685800" y="304800"/>
            <a:ext cx="7924800" cy="2743200"/>
          </a:xfrm>
          <a:prstGeom prst="rect">
            <a:avLst/>
          </a:prstGeom>
          <a:noFill/>
        </p:spPr>
      </p:pic>
      <p:pic>
        <p:nvPicPr>
          <p:cNvPr id="12291" name="Picture 3" descr="C:\BINF5030\Img2\aa10.bmp"/>
          <p:cNvPicPr>
            <a:picLocks noChangeAspect="1" noChangeArrowheads="1"/>
          </p:cNvPicPr>
          <p:nvPr/>
        </p:nvPicPr>
        <p:blipFill>
          <a:blip r:embed="rId3" cstate="print">
            <a:lum contrast="100000"/>
          </a:blip>
          <a:srcRect/>
          <a:stretch>
            <a:fillRect/>
          </a:stretch>
        </p:blipFill>
        <p:spPr bwMode="auto">
          <a:xfrm>
            <a:off x="533400" y="3832225"/>
            <a:ext cx="3962400" cy="2568575"/>
          </a:xfrm>
          <a:prstGeom prst="rect">
            <a:avLst/>
          </a:prstGeom>
          <a:noFill/>
        </p:spPr>
      </p:pic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5105400" y="3886200"/>
            <a:ext cx="3352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/>
              <a:t>a- </a:t>
            </a:r>
            <a:r>
              <a:rPr lang="en-US" sz="2000" dirty="0" err="1"/>
              <a:t>ori</a:t>
            </a:r>
            <a:r>
              <a:rPr lang="tr-TR" sz="2000" dirty="0" err="1"/>
              <a:t>jinal</a:t>
            </a:r>
            <a:r>
              <a:rPr lang="tr-TR" sz="2000" dirty="0"/>
              <a:t> çip görüntüsü</a:t>
            </a:r>
            <a:endParaRPr lang="en-US" sz="2000" dirty="0"/>
          </a:p>
          <a:p>
            <a:pPr eaLnBrk="0" hangingPunct="0">
              <a:spcBef>
                <a:spcPct val="50000"/>
              </a:spcBef>
            </a:pPr>
            <a:r>
              <a:rPr lang="en-US" sz="2000" dirty="0"/>
              <a:t>b- </a:t>
            </a:r>
            <a:r>
              <a:rPr lang="tr-TR" sz="2000" dirty="0"/>
              <a:t>aşındırılmış görüntü</a:t>
            </a:r>
            <a:endParaRPr lang="en-US" sz="2000" dirty="0"/>
          </a:p>
          <a:p>
            <a:pPr eaLnBrk="0" hangingPunct="0">
              <a:spcBef>
                <a:spcPct val="50000"/>
              </a:spcBef>
            </a:pPr>
            <a:r>
              <a:rPr lang="en-US" sz="2000" dirty="0"/>
              <a:t>c- </a:t>
            </a:r>
            <a:r>
              <a:rPr lang="tr-TR" sz="2000" dirty="0"/>
              <a:t>orijinal görüntüden aşındırılmış görüntü çıkarılarak elde edilmiş çerçeve görüntüsü</a:t>
            </a:r>
            <a:endParaRPr lang="en-US" sz="2000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28</a:t>
            </a:fld>
            <a:endParaRPr lang="tr-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8001000" cy="5867400"/>
          </a:xfrm>
        </p:spPr>
        <p:txBody>
          <a:bodyPr>
            <a:normAutofit/>
          </a:bodyPr>
          <a:lstStyle/>
          <a:p>
            <a:pPr marL="0">
              <a:lnSpc>
                <a:spcPct val="90000"/>
              </a:lnSpc>
              <a:spcBef>
                <a:spcPct val="50000"/>
              </a:spcBef>
              <a:buNone/>
            </a:pPr>
            <a:r>
              <a:rPr lang="en-US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Gr</a:t>
            </a:r>
            <a:r>
              <a:rPr lang="tr-TR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i Seviyeli Aşınma ve Genişleme</a:t>
            </a:r>
            <a:endParaRPr lang="en-US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tr-TR" sz="2400" dirty="0"/>
              <a:t>Gri seviyeli aşınma işlemi koyu </a:t>
            </a:r>
            <a:r>
              <a:rPr lang="tr-TR" sz="2400" dirty="0" err="1"/>
              <a:t>arkaplandaki</a:t>
            </a:r>
            <a:r>
              <a:rPr lang="tr-TR" sz="2400" dirty="0"/>
              <a:t> parlak görüntünün parlaklığını (ve boyutu) azaltır.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Gri seviyeli genişleme işlemi koyu </a:t>
            </a:r>
            <a:r>
              <a:rPr lang="tr-TR" sz="2400" dirty="0" err="1"/>
              <a:t>arkaplandaki</a:t>
            </a:r>
            <a:r>
              <a:rPr lang="tr-TR" sz="2400" dirty="0"/>
              <a:t> parlak görüntünün parlaklığını (ve boyutunu) arttırır.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sz="2400" b="1" dirty="0"/>
              <a:t>Uygulamaları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Aşınma işlemi tek piksellik parlak delik gibi küçük anormallikleri kaldırmak için kullanılır. Bu işlemin çoklu uygulaması nesneleri saymadan önce birbirine değenleri ayırır.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tr-TR" sz="2400" dirty="0"/>
              <a:t>Genişleme işlemi bir görüntüdeki tek piksellik koyu delikleri kaldırmak için kullanılır.</a:t>
            </a:r>
            <a:r>
              <a:rPr lang="en-US" sz="2400" dirty="0"/>
              <a:t> </a:t>
            </a:r>
            <a:r>
              <a:rPr lang="tr-TR" sz="2400" dirty="0"/>
              <a:t>Çoklu genişleme uygulaması kırık nesneleri tek parça haline gelinceye kadar onları parlaklaştırır. </a:t>
            </a:r>
          </a:p>
          <a:p>
            <a:pPr>
              <a:lnSpc>
                <a:spcPct val="90000"/>
              </a:lnSpc>
            </a:pPr>
            <a:r>
              <a:rPr lang="tr-TR" sz="2400" dirty="0"/>
              <a:t>Maskeler ikili aşınma ve genişleme ile aynıdır.</a:t>
            </a:r>
            <a:r>
              <a:rPr lang="en-US" sz="2400" dirty="0"/>
              <a:t> 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29</a:t>
            </a:fld>
            <a:endParaRPr lang="tr-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04800" y="381000"/>
            <a:ext cx="8534400" cy="5447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15938" indent="-515938">
              <a:spcBef>
                <a:spcPct val="50000"/>
              </a:spcBef>
              <a:buFontTx/>
              <a:buChar char="•"/>
            </a:pPr>
            <a:r>
              <a:rPr lang="tr-TR" sz="2400" dirty="0"/>
              <a:t>Gri-seviyeli morfolojik işlemde, giriş ve çıkış görüntüleri ikili biçimden ziyade gri seviyeli biçimdedir. </a:t>
            </a:r>
            <a:endParaRPr lang="en-US" sz="2400" dirty="0"/>
          </a:p>
          <a:p>
            <a:pPr marL="515938" indent="-515938">
              <a:spcBef>
                <a:spcPct val="50000"/>
              </a:spcBef>
              <a:buFontTx/>
              <a:buChar char="•"/>
            </a:pPr>
            <a:r>
              <a:rPr lang="tr-TR" sz="2400" dirty="0"/>
              <a:t>Gri-seviyeli morfolojik işlemler genelde tek piksellik sınır veya iskeletli görüntüler üretmez.</a:t>
            </a:r>
            <a:r>
              <a:rPr lang="en-US" sz="2400" dirty="0"/>
              <a:t> </a:t>
            </a:r>
            <a:r>
              <a:rPr lang="tr-TR" sz="2400" dirty="0"/>
              <a:t>Bunlar genellikle zıtlık germe gibi birkaç ikili işlemi takip eder.</a:t>
            </a:r>
            <a:endParaRPr lang="en-US" sz="2400" dirty="0"/>
          </a:p>
          <a:p>
            <a:pPr marL="515938" indent="-515938">
              <a:spcBef>
                <a:spcPct val="50000"/>
              </a:spcBef>
              <a:buFontTx/>
              <a:buChar char="•"/>
            </a:pPr>
            <a:r>
              <a:rPr lang="tr-TR" sz="2400" dirty="0"/>
              <a:t>Piksel </a:t>
            </a:r>
            <a:r>
              <a:rPr lang="tr-TR" sz="2400" dirty="0" err="1"/>
              <a:t>konvolüsyonu</a:t>
            </a:r>
            <a:r>
              <a:rPr lang="tr-TR" sz="2400" dirty="0"/>
              <a:t> ve ikili morfolojik işleme benzer bir şekilde, gri seviyeli morfolojik işlem giriş görüntüsünde piksel piksel hareket ederek çıkış görüntüsünde sonuç piksellerini yerleştirir.</a:t>
            </a:r>
            <a:endParaRPr lang="en-US" sz="2400" dirty="0"/>
          </a:p>
          <a:p>
            <a:pPr marL="515938" indent="-515938">
              <a:spcBef>
                <a:spcPct val="50000"/>
              </a:spcBef>
              <a:buFontTx/>
              <a:buChar char="•"/>
            </a:pPr>
            <a:r>
              <a:rPr lang="tr-TR" sz="2400" dirty="0"/>
              <a:t>Gri-seviyeli morfolojik işlemler için yapılandırma elemanı  (YE) </a:t>
            </a:r>
            <a:r>
              <a:rPr lang="en-US" sz="2400" dirty="0"/>
              <a:t>–255</a:t>
            </a:r>
            <a:r>
              <a:rPr lang="tr-TR" sz="2400" dirty="0"/>
              <a:t>’den</a:t>
            </a:r>
            <a:r>
              <a:rPr lang="en-US" sz="2400" dirty="0"/>
              <a:t>  + 255</a:t>
            </a:r>
            <a:r>
              <a:rPr lang="tr-TR" sz="2400" dirty="0"/>
              <a:t>’e kadar değişen değerler alır</a:t>
            </a:r>
            <a:r>
              <a:rPr lang="en-US" sz="2400" dirty="0"/>
              <a:t>. </a:t>
            </a:r>
            <a:r>
              <a:rPr lang="tr-TR" sz="2400" dirty="0"/>
              <a:t>Alternatif bir değer aldığında umursanmaz.</a:t>
            </a:r>
            <a:r>
              <a:rPr lang="en-US" sz="2400" dirty="0"/>
              <a:t> </a:t>
            </a:r>
            <a:r>
              <a:rPr lang="tr-TR" sz="2400" dirty="0"/>
              <a:t>YE normalde 3x3, 5x5 veya daha büyük kare matristen oluşabilir</a:t>
            </a:r>
            <a:r>
              <a:rPr lang="en-US" sz="2400" dirty="0"/>
              <a:t>.</a:t>
            </a:r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30</a:t>
            </a:fld>
            <a:endParaRPr lang="tr-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533400" y="214290"/>
            <a:ext cx="7924800" cy="6001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tr-TR" sz="2400" dirty="0"/>
              <a:t>Giriş görüntüsündeki her piksel sonuç piksel değerini üretmek için sekiz komşusu ile değerlendirilir.</a:t>
            </a:r>
            <a:endParaRPr lang="en-US" sz="2400" dirty="0"/>
          </a:p>
          <a:p>
            <a:pPr marL="457200" indent="-457200">
              <a:spcBef>
                <a:spcPct val="50000"/>
              </a:spcBef>
            </a:pPr>
            <a:r>
              <a:rPr lang="tr-TR" sz="2400" dirty="0"/>
              <a:t>	Değerlendirme işlemi aşağıdaki şekilde tanımlanır</a:t>
            </a:r>
            <a:r>
              <a:rPr lang="en-US" sz="2400" dirty="0"/>
              <a:t>: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tr-TR" sz="2400" dirty="0"/>
              <a:t>Giriş pikseli etrafına maskeyi (YE) yerleştir</a:t>
            </a:r>
            <a:r>
              <a:rPr lang="en-US" sz="2400" dirty="0"/>
              <a:t>.</a:t>
            </a:r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tr-TR" sz="2400" dirty="0"/>
              <a:t>Aşınma için</a:t>
            </a:r>
            <a:r>
              <a:rPr lang="en-US" sz="2400" dirty="0"/>
              <a:t>, mask</a:t>
            </a:r>
            <a:r>
              <a:rPr lang="tr-TR" sz="2400" dirty="0"/>
              <a:t>e</a:t>
            </a:r>
            <a:r>
              <a:rPr lang="en-US" sz="2400" dirty="0"/>
              <a:t> </a:t>
            </a:r>
            <a:r>
              <a:rPr lang="tr-TR" sz="2400" dirty="0"/>
              <a:t>değerleri 0’dan</a:t>
            </a:r>
            <a:r>
              <a:rPr lang="en-US" sz="2400" dirty="0"/>
              <a:t> –255</a:t>
            </a:r>
            <a:r>
              <a:rPr lang="tr-TR" sz="2400" dirty="0"/>
              <a:t>’e kadar değişir</a:t>
            </a:r>
            <a:r>
              <a:rPr lang="en-US" sz="2400" dirty="0"/>
              <a:t>, </a:t>
            </a:r>
            <a:r>
              <a:rPr lang="tr-TR" sz="2400" dirty="0"/>
              <a:t>fakat genellikle 0’dır.</a:t>
            </a:r>
            <a:r>
              <a:rPr lang="en-US" sz="2400" dirty="0"/>
              <a:t> </a:t>
            </a:r>
            <a:r>
              <a:rPr lang="tr-TR" sz="2400" dirty="0"/>
              <a:t>Genişleme durumu için değerler </a:t>
            </a:r>
            <a:r>
              <a:rPr lang="en-US" sz="2400" dirty="0"/>
              <a:t>0</a:t>
            </a:r>
            <a:r>
              <a:rPr lang="tr-TR" sz="2400" dirty="0"/>
              <a:t>’dan</a:t>
            </a:r>
            <a:r>
              <a:rPr lang="en-US" sz="2400" dirty="0"/>
              <a:t> 255</a:t>
            </a:r>
            <a:r>
              <a:rPr lang="tr-TR" sz="2400" dirty="0"/>
              <a:t>’e kadar değişir, fakat </a:t>
            </a:r>
            <a:r>
              <a:rPr lang="en-US" sz="2400" dirty="0"/>
              <a:t> </a:t>
            </a:r>
            <a:r>
              <a:rPr lang="tr-TR" sz="2400" dirty="0"/>
              <a:t>genellikle sıfırdır.</a:t>
            </a:r>
            <a:endParaRPr lang="en-US" sz="2400" dirty="0"/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tr-TR" sz="2400" dirty="0"/>
              <a:t>Merkez maske değeri ve sekiz komşu değerleri ilgili giriş piksel değeri ve sekiz komşusu ile eklenir.</a:t>
            </a:r>
            <a:endParaRPr lang="en-US" sz="2400" dirty="0"/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tr-TR" sz="2400" dirty="0"/>
              <a:t>Çıkış değeri dokuz toplam değerinin minimum değeri olarak tespit edilir.</a:t>
            </a:r>
            <a:endParaRPr lang="en-US" sz="2400" dirty="0"/>
          </a:p>
          <a:p>
            <a:pPr marL="457200" indent="-457200">
              <a:spcBef>
                <a:spcPct val="50000"/>
              </a:spcBef>
              <a:buFontTx/>
              <a:buChar char="•"/>
            </a:pPr>
            <a:r>
              <a:rPr lang="tr-TR" sz="2400" dirty="0"/>
              <a:t>Bu işlem giriş görüntüsünde piksel piksel tekrarlanır.</a:t>
            </a:r>
            <a:endParaRPr lang="en-US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31</a:t>
            </a:fld>
            <a:endParaRPr lang="tr-T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500034" y="285728"/>
            <a:ext cx="8077200" cy="6786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400" dirty="0"/>
              <a:t>Aşınma işlemi için</a:t>
            </a:r>
          </a:p>
          <a:p>
            <a:pPr>
              <a:spcBef>
                <a:spcPct val="50000"/>
              </a:spcBef>
            </a:pPr>
            <a:r>
              <a:rPr lang="en-US" sz="2400" b="1" dirty="0"/>
              <a:t>O(</a:t>
            </a:r>
            <a:r>
              <a:rPr lang="en-US" sz="2400" b="1" dirty="0" err="1"/>
              <a:t>x,y</a:t>
            </a:r>
            <a:r>
              <a:rPr lang="en-US" sz="2400" b="1" dirty="0"/>
              <a:t>) =</a:t>
            </a:r>
            <a:r>
              <a:rPr lang="en-US" sz="2400" dirty="0"/>
              <a:t> </a:t>
            </a:r>
          </a:p>
          <a:p>
            <a:pPr marL="735013" lvl="1" indent="-277813">
              <a:spcBef>
                <a:spcPct val="50000"/>
              </a:spcBef>
            </a:pPr>
            <a:r>
              <a:rPr lang="en-US" sz="2400" b="1" dirty="0"/>
              <a:t>min </a:t>
            </a:r>
            <a:r>
              <a:rPr lang="en-US" sz="2400" dirty="0"/>
              <a:t>{ </a:t>
            </a:r>
            <a:r>
              <a:rPr lang="tr-TR" sz="2400" dirty="0"/>
              <a:t>bütün merkez piksel değerleri ve 8 komşusu maske ile üst üste toplanır</a:t>
            </a:r>
            <a:r>
              <a:rPr lang="en-US" sz="2400" dirty="0"/>
              <a:t> }</a:t>
            </a:r>
          </a:p>
          <a:p>
            <a:pPr>
              <a:spcBef>
                <a:spcPct val="50000"/>
              </a:spcBef>
            </a:pPr>
            <a:r>
              <a:rPr lang="tr-TR" sz="2400" dirty="0"/>
              <a:t>Genişleme işlemi için benzer şekilde</a:t>
            </a:r>
            <a:r>
              <a:rPr lang="en-US" sz="2400" dirty="0"/>
              <a:t>:</a:t>
            </a:r>
          </a:p>
          <a:p>
            <a:pPr>
              <a:spcBef>
                <a:spcPct val="50000"/>
              </a:spcBef>
            </a:pPr>
            <a:r>
              <a:rPr lang="en-US" sz="2400" b="1" dirty="0"/>
              <a:t>O(</a:t>
            </a:r>
            <a:r>
              <a:rPr lang="en-US" sz="2400" b="1" dirty="0" err="1"/>
              <a:t>x,y</a:t>
            </a:r>
            <a:r>
              <a:rPr lang="en-US" sz="2400" b="1" dirty="0"/>
              <a:t>) = </a:t>
            </a:r>
          </a:p>
          <a:p>
            <a:pPr marL="735013" lvl="1" indent="-277813">
              <a:spcBef>
                <a:spcPct val="50000"/>
              </a:spcBef>
            </a:pPr>
            <a:r>
              <a:rPr lang="en-US" sz="2400" b="1" dirty="0"/>
              <a:t>max </a:t>
            </a:r>
            <a:r>
              <a:rPr lang="en-US" sz="2400" dirty="0"/>
              <a:t>{</a:t>
            </a:r>
            <a:r>
              <a:rPr lang="tr-TR" sz="2400" dirty="0"/>
              <a:t> bütün merkez piksel değerleri ve 8 komşusu maske ile üst üste toplanır</a:t>
            </a:r>
            <a:r>
              <a:rPr lang="en-US" sz="2400" dirty="0"/>
              <a:t> </a:t>
            </a:r>
            <a:r>
              <a:rPr lang="tr-TR" sz="2400" dirty="0"/>
              <a:t>}</a:t>
            </a:r>
            <a:endParaRPr lang="en-US" sz="2400" dirty="0"/>
          </a:p>
          <a:p>
            <a:pPr marL="735013" lvl="1" indent="-277813">
              <a:spcBef>
                <a:spcPct val="50000"/>
              </a:spcBef>
            </a:pPr>
            <a:r>
              <a:rPr lang="en-US" sz="2400" b="1" dirty="0"/>
              <a:t>O(</a:t>
            </a:r>
            <a:r>
              <a:rPr lang="en-US" sz="2400" b="1" dirty="0" err="1"/>
              <a:t>x,y</a:t>
            </a:r>
            <a:r>
              <a:rPr lang="en-US" sz="2400" b="1" dirty="0"/>
              <a:t>)</a:t>
            </a:r>
            <a:r>
              <a:rPr lang="en-US" sz="2400" dirty="0"/>
              <a:t> </a:t>
            </a:r>
            <a:r>
              <a:rPr lang="tr-TR" sz="2400" dirty="0"/>
              <a:t>morfolojik işlem gerçekleştirildikten sonra piksellerin çıkış değeridir.</a:t>
            </a:r>
            <a:endParaRPr lang="en-US" sz="2400" dirty="0"/>
          </a:p>
          <a:p>
            <a:pPr marL="735013" lvl="1" indent="-277813"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tr-TR" sz="2400" dirty="0"/>
              <a:t>Aşınma işlemi nesnelere koyulaşma etkisi yapar ve böylece nesneler daha küçük görünür.</a:t>
            </a:r>
            <a:r>
              <a:rPr lang="en-US" sz="2400" dirty="0"/>
              <a:t> </a:t>
            </a:r>
          </a:p>
          <a:p>
            <a:pPr marL="735013" lvl="1" indent="-277813">
              <a:spcBef>
                <a:spcPct val="50000"/>
              </a:spcBef>
              <a:buFontTx/>
              <a:buChar char="•"/>
            </a:pPr>
            <a:r>
              <a:rPr lang="en-US" sz="2400" dirty="0"/>
              <a:t> </a:t>
            </a:r>
            <a:r>
              <a:rPr lang="tr-TR" sz="2400" dirty="0"/>
              <a:t>Genişleme işlemi bunun tersidir.</a:t>
            </a:r>
            <a:endParaRPr lang="en-US" sz="2400" dirty="0"/>
          </a:p>
          <a:p>
            <a:pPr>
              <a:spcBef>
                <a:spcPct val="50000"/>
              </a:spcBef>
            </a:pPr>
            <a:endParaRPr lang="en-US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32</a:t>
            </a:fld>
            <a:endParaRPr lang="tr-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8001000" cy="58674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tr-TR" sz="2800" b="1" dirty="0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Morfolojik </a:t>
            </a:r>
            <a:r>
              <a:rPr lang="tr-TR" sz="2800" b="1" dirty="0" err="1">
                <a:solidFill>
                  <a:srgbClr val="FFC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Gradyan</a:t>
            </a:r>
            <a:endParaRPr lang="en-US" sz="2800" b="1" dirty="0">
              <a:solidFill>
                <a:srgbClr val="FFC000"/>
              </a:solidFill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800" dirty="0"/>
              <a:t>	</a:t>
            </a:r>
            <a:r>
              <a:rPr lang="tr-TR" sz="2400" dirty="0"/>
              <a:t>Bu işlem gri-seviyeli görüntüler üzerinde gerçekleştirilir. Aşındırılmış ve genişletilmiş versiyonlar oluşturulur. Daha sonra görüntünün genişletilmiş versiyonundan aşındırılmış versiyonu çıkarılır. Sonuç görüntüsü orijinal görüntüdeki nesnelerin kenarlarını gösterir.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tr-TR" sz="2400" b="1" dirty="0"/>
              <a:t>Uygulamaları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tr-TR" sz="2400" dirty="0"/>
              <a:t>Morfolojik </a:t>
            </a:r>
            <a:r>
              <a:rPr lang="tr-TR" sz="2400" dirty="0" err="1"/>
              <a:t>gradyan</a:t>
            </a:r>
            <a:r>
              <a:rPr lang="tr-TR" sz="2400" dirty="0"/>
              <a:t> işlemi bir görüntüdeki nesnelerin kenarlarını oluşturmak için kullanılır.</a:t>
            </a:r>
            <a:r>
              <a:rPr lang="en-US" sz="2400" dirty="0"/>
              <a:t> </a:t>
            </a:r>
            <a:r>
              <a:rPr lang="tr-TR" sz="2400" dirty="0"/>
              <a:t>Çok yönlü aşınma ve genişleme yapılandırma elemanı kullanarak bu işlem nesneleri yönlerine bakmaksızın kenarlarını oluşturur.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Yönlü kenar oluşturmak için yatay dikey veya çapraz yapılandırma elemanı kullanılabilir.</a:t>
            </a:r>
            <a:endParaRPr lang="en-US" sz="2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	</a:t>
            </a:r>
            <a:r>
              <a:rPr lang="tr-TR" sz="2400" dirty="0"/>
              <a:t>Çıkarma işleminden önce çoklu aşınma ve genişleme işlemleri uygulanabilir.</a:t>
            </a:r>
            <a:r>
              <a:rPr lang="en-US" sz="2400" dirty="0"/>
              <a:t> </a:t>
            </a:r>
            <a:r>
              <a:rPr lang="tr-TR" sz="2400" dirty="0"/>
              <a:t>Bu işlem daha geniş kenar üretilmesini sağlar.</a:t>
            </a:r>
            <a:endParaRPr lang="en-US" sz="2400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33</a:t>
            </a:fld>
            <a:endParaRPr lang="tr-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BINF5030\Img2\aa11.bmp"/>
          <p:cNvPicPr>
            <a:picLocks noChangeAspect="1" noChangeArrowheads="1"/>
          </p:cNvPicPr>
          <p:nvPr/>
        </p:nvPicPr>
        <p:blipFill>
          <a:blip r:embed="rId2" cstate="print">
            <a:lum contrast="36000"/>
          </a:blip>
          <a:srcRect/>
          <a:stretch>
            <a:fillRect/>
          </a:stretch>
        </p:blipFill>
        <p:spPr bwMode="auto">
          <a:xfrm>
            <a:off x="457200" y="1066800"/>
            <a:ext cx="8001000" cy="4191000"/>
          </a:xfrm>
          <a:prstGeom prst="rect">
            <a:avLst/>
          </a:prstGeom>
          <a:noFill/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447800" y="5638800"/>
            <a:ext cx="6019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1600" dirty="0"/>
              <a:t>a- </a:t>
            </a:r>
            <a:r>
              <a:rPr lang="tr-TR" sz="1600" dirty="0"/>
              <a:t>aşındırılmış gri seviyeli görüntü</a:t>
            </a:r>
            <a:r>
              <a:rPr lang="en-US" sz="1600" dirty="0"/>
              <a:t> ,   b- </a:t>
            </a:r>
            <a:r>
              <a:rPr lang="tr-TR" sz="1600" dirty="0"/>
              <a:t>morfolojik </a:t>
            </a:r>
            <a:r>
              <a:rPr lang="tr-TR" sz="1600" dirty="0" err="1"/>
              <a:t>gradyan</a:t>
            </a:r>
            <a:r>
              <a:rPr lang="tr-TR" sz="1600" dirty="0"/>
              <a:t> ile sonuçlanan genişlemiş görüntüden aşınmış görüntünün çıkartılması</a:t>
            </a:r>
            <a:endParaRPr lang="en-US" sz="1600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34</a:t>
            </a:fld>
            <a:endParaRPr lang="tr-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879240" cy="2301240"/>
          </a:xfrm>
        </p:spPr>
        <p:txBody>
          <a:bodyPr>
            <a:normAutofit fontScale="90000"/>
          </a:bodyPr>
          <a:lstStyle/>
          <a:p>
            <a:r>
              <a:rPr lang="tr-TR" b="1" dirty="0"/>
              <a:t>Morfolojik işlemlerin</a:t>
            </a:r>
            <a:br>
              <a:rPr lang="tr-TR" b="1" dirty="0"/>
            </a:br>
            <a:r>
              <a:rPr lang="tr-TR" b="1" dirty="0" err="1"/>
              <a:t>Matlab</a:t>
            </a:r>
            <a:r>
              <a:rPr lang="tr-TR" b="1" dirty="0"/>
              <a:t> </a:t>
            </a:r>
            <a:r>
              <a:rPr lang="tr-TR" dirty="0"/>
              <a:t>Uygulamaları</a:t>
            </a:r>
            <a:endParaRPr lang="tr-TR" b="1" dirty="0"/>
          </a:p>
        </p:txBody>
      </p:sp>
      <p:sp>
        <p:nvSpPr>
          <p:cNvPr id="3" name="2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35</a:t>
            </a:fld>
            <a:endParaRPr lang="tr-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Eroding</a:t>
            </a:r>
            <a:r>
              <a:rPr lang="tr-TR" b="1" dirty="0"/>
              <a:t> (Aşınma)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tr-TR" dirty="0"/>
              <a:t>	F1=</a:t>
            </a:r>
            <a:r>
              <a:rPr lang="tr-TR" dirty="0" err="1"/>
              <a:t>imread</a:t>
            </a:r>
            <a:r>
              <a:rPr lang="tr-TR" dirty="0"/>
              <a:t>('C:\</a:t>
            </a:r>
            <a:r>
              <a:rPr lang="tr-TR" dirty="0" err="1"/>
              <a:t>bubbles</a:t>
            </a:r>
            <a:r>
              <a:rPr lang="tr-TR" dirty="0"/>
              <a:t>.</a:t>
            </a:r>
            <a:r>
              <a:rPr lang="tr-TR" dirty="0" err="1"/>
              <a:t>tif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SE=[1 1 1; 1 1 1;1 1 1];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erodedBW</a:t>
            </a:r>
            <a:r>
              <a:rPr lang="tr-TR" dirty="0"/>
              <a:t> = </a:t>
            </a:r>
            <a:r>
              <a:rPr lang="tr-TR" dirty="0" err="1"/>
              <a:t>imerode</a:t>
            </a:r>
            <a:r>
              <a:rPr lang="tr-TR" dirty="0"/>
              <a:t>(F1,SE);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</a:t>
            </a:r>
            <a:r>
              <a:rPr lang="tr-TR" dirty="0" err="1"/>
              <a:t>imshow</a:t>
            </a:r>
            <a:r>
              <a:rPr lang="tr-TR" dirty="0"/>
              <a:t>(F1);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</a:t>
            </a:r>
            <a:r>
              <a:rPr lang="tr-TR" dirty="0" err="1"/>
              <a:t>erodedBW</a:t>
            </a:r>
            <a:r>
              <a:rPr lang="tr-TR" dirty="0"/>
              <a:t>);</a:t>
            </a:r>
          </a:p>
          <a:p>
            <a:endParaRPr lang="tr-TR" dirty="0"/>
          </a:p>
          <a:p>
            <a:pPr>
              <a:buNone/>
            </a:pPr>
            <a:r>
              <a:rPr lang="tr-TR" dirty="0"/>
              <a:t>  (</a:t>
            </a:r>
            <a:r>
              <a:rPr lang="tr-TR" dirty="0" err="1"/>
              <a:t>we</a:t>
            </a:r>
            <a:r>
              <a:rPr lang="tr-TR" dirty="0"/>
              <a:t> can </a:t>
            </a:r>
            <a:r>
              <a:rPr lang="tr-TR" dirty="0" err="1"/>
              <a:t>also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</a:t>
            </a:r>
          </a:p>
          <a:p>
            <a:pPr>
              <a:buNone/>
            </a:pPr>
            <a:r>
              <a:rPr lang="tr-TR" dirty="0"/>
              <a:t>    </a:t>
            </a:r>
            <a:r>
              <a:rPr lang="tr-TR" dirty="0" err="1"/>
              <a:t>se</a:t>
            </a:r>
            <a:r>
              <a:rPr lang="tr-TR" dirty="0"/>
              <a:t> = </a:t>
            </a:r>
            <a:r>
              <a:rPr lang="tr-TR" dirty="0" err="1"/>
              <a:t>strel</a:t>
            </a:r>
            <a:r>
              <a:rPr lang="tr-TR" dirty="0"/>
              <a:t>('</a:t>
            </a:r>
            <a:r>
              <a:rPr lang="tr-TR" dirty="0" err="1"/>
              <a:t>ball</a:t>
            </a:r>
            <a:r>
              <a:rPr lang="tr-TR" dirty="0"/>
              <a:t>',5,5);)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36</a:t>
            </a:fld>
            <a:endParaRPr lang="tr-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642974" y="428604"/>
            <a:ext cx="444817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57422" y="428604"/>
            <a:ext cx="444817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Metin kutusu"/>
          <p:cNvSpPr txBox="1"/>
          <p:nvPr/>
        </p:nvSpPr>
        <p:spPr>
          <a:xfrm>
            <a:off x="214282" y="6072206"/>
            <a:ext cx="8929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     Orijinal </a:t>
            </a:r>
            <a:r>
              <a:rPr lang="tr-TR" sz="2400" dirty="0" err="1"/>
              <a:t>image</a:t>
            </a:r>
            <a:r>
              <a:rPr lang="tr-TR" sz="2400" dirty="0"/>
              <a:t>	     </a:t>
            </a:r>
            <a:r>
              <a:rPr lang="tr-TR" sz="2400" dirty="0" err="1"/>
              <a:t>Eroded</a:t>
            </a:r>
            <a:r>
              <a:rPr lang="tr-TR" sz="2400" dirty="0"/>
              <a:t> </a:t>
            </a:r>
            <a:r>
              <a:rPr lang="tr-TR" sz="2400" dirty="0" err="1"/>
              <a:t>image</a:t>
            </a:r>
            <a:r>
              <a:rPr lang="tr-TR" sz="2400" dirty="0"/>
              <a:t>          </a:t>
            </a:r>
            <a:r>
              <a:rPr lang="tr-TR" sz="2400" dirty="0" err="1"/>
              <a:t>Two</a:t>
            </a:r>
            <a:r>
              <a:rPr lang="tr-TR" sz="2400" dirty="0"/>
              <a:t> </a:t>
            </a:r>
            <a:r>
              <a:rPr lang="tr-TR" sz="2400" dirty="0" err="1"/>
              <a:t>times</a:t>
            </a:r>
            <a:r>
              <a:rPr lang="tr-TR" sz="2400" dirty="0"/>
              <a:t> </a:t>
            </a:r>
            <a:r>
              <a:rPr lang="tr-TR" sz="2400" dirty="0" err="1"/>
              <a:t>eroded</a:t>
            </a:r>
            <a:endParaRPr lang="tr-TR" sz="24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57818" y="428604"/>
            <a:ext cx="444817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37</a:t>
            </a:fld>
            <a:endParaRPr lang="tr-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Dilating</a:t>
            </a:r>
            <a:r>
              <a:rPr lang="tr-TR" b="1" dirty="0"/>
              <a:t> (Genişleme)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F2=</a:t>
            </a:r>
            <a:r>
              <a:rPr lang="tr-TR" dirty="0" err="1"/>
              <a:t>imread</a:t>
            </a:r>
            <a:r>
              <a:rPr lang="tr-TR" dirty="0"/>
              <a:t>('C:\</a:t>
            </a:r>
            <a:r>
              <a:rPr lang="tr-TR" dirty="0" err="1"/>
              <a:t>text</a:t>
            </a:r>
            <a:r>
              <a:rPr lang="tr-TR" dirty="0"/>
              <a:t>.</a:t>
            </a:r>
            <a:r>
              <a:rPr lang="tr-TR" dirty="0" err="1"/>
              <a:t>tif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se</a:t>
            </a:r>
            <a:r>
              <a:rPr lang="tr-TR" dirty="0"/>
              <a:t> = </a:t>
            </a:r>
            <a:r>
              <a:rPr lang="tr-TR" dirty="0" err="1"/>
              <a:t>strel</a:t>
            </a:r>
            <a:r>
              <a:rPr lang="tr-TR" dirty="0"/>
              <a:t>('</a:t>
            </a:r>
            <a:r>
              <a:rPr lang="tr-TR" dirty="0" err="1"/>
              <a:t>line</a:t>
            </a:r>
            <a:r>
              <a:rPr lang="tr-TR" dirty="0"/>
              <a:t>',5,90);</a:t>
            </a:r>
          </a:p>
          <a:p>
            <a:pPr>
              <a:buNone/>
            </a:pPr>
            <a:r>
              <a:rPr lang="tr-TR" dirty="0"/>
              <a:t>	bw2 = </a:t>
            </a:r>
            <a:r>
              <a:rPr lang="tr-TR" dirty="0" err="1"/>
              <a:t>imdilate</a:t>
            </a:r>
            <a:r>
              <a:rPr lang="tr-TR" dirty="0"/>
              <a:t>(F2,</a:t>
            </a:r>
            <a:r>
              <a:rPr lang="tr-TR" dirty="0" err="1"/>
              <a:t>se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imshow</a:t>
            </a:r>
            <a:r>
              <a:rPr lang="tr-TR" dirty="0"/>
              <a:t>(F2), 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Original</a:t>
            </a:r>
            <a:r>
              <a:rPr lang="tr-TR" dirty="0"/>
              <a:t>')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(bw2), </a:t>
            </a:r>
            <a:r>
              <a:rPr lang="tr-TR" dirty="0" err="1"/>
              <a:t>title</a:t>
            </a:r>
            <a:r>
              <a:rPr lang="tr-TR" dirty="0"/>
              <a:t>('</a:t>
            </a:r>
            <a:r>
              <a:rPr lang="tr-TR" dirty="0" err="1"/>
              <a:t>Dilated</a:t>
            </a:r>
            <a:r>
              <a:rPr lang="tr-TR" dirty="0"/>
              <a:t>')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38</a:t>
            </a:fld>
            <a:endParaRPr lang="tr-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285860"/>
            <a:ext cx="4800634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07800" y="1285860"/>
            <a:ext cx="4736200" cy="3735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6 Metin kutusu"/>
          <p:cNvSpPr txBox="1"/>
          <p:nvPr/>
        </p:nvSpPr>
        <p:spPr>
          <a:xfrm>
            <a:off x="1000100" y="5000636"/>
            <a:ext cx="7643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     Orijinal </a:t>
            </a:r>
            <a:r>
              <a:rPr lang="tr-TR" sz="2400" dirty="0" err="1"/>
              <a:t>image</a:t>
            </a:r>
            <a:r>
              <a:rPr lang="tr-TR" sz="2400" dirty="0"/>
              <a:t>			</a:t>
            </a:r>
            <a:r>
              <a:rPr lang="tr-TR" sz="2400" dirty="0" err="1"/>
              <a:t>Dilated</a:t>
            </a:r>
            <a:r>
              <a:rPr lang="tr-TR" sz="2400" dirty="0"/>
              <a:t> </a:t>
            </a:r>
            <a:r>
              <a:rPr lang="tr-TR" sz="2400" dirty="0" err="1"/>
              <a:t>image</a:t>
            </a:r>
            <a:r>
              <a:rPr lang="tr-TR" sz="2400" dirty="0"/>
              <a:t>		</a:t>
            </a:r>
          </a:p>
        </p:txBody>
      </p:sp>
      <p:sp>
        <p:nvSpPr>
          <p:cNvPr id="8" name="7 Dikdörtgen"/>
          <p:cNvSpPr/>
          <p:nvPr/>
        </p:nvSpPr>
        <p:spPr>
          <a:xfrm>
            <a:off x="3214678" y="357166"/>
            <a:ext cx="235745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400" b="1" dirty="0" err="1"/>
              <a:t>Dilating</a:t>
            </a:r>
            <a:endParaRPr lang="tr-TR" sz="4400" b="1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39</a:t>
            </a:fld>
            <a:endParaRPr lang="tr-T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Dilating</a:t>
            </a:r>
            <a:endParaRPr lang="tr-TR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500034" y="1357298"/>
            <a:ext cx="5114932" cy="504351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se1 = </a:t>
            </a:r>
            <a:r>
              <a:rPr lang="en-US" sz="2000" dirty="0" err="1"/>
              <a:t>strel</a:t>
            </a:r>
            <a:r>
              <a:rPr lang="en-US" sz="2000" dirty="0"/>
              <a:t>('line',3,0)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se1 =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1     1     1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se2 = </a:t>
            </a:r>
            <a:r>
              <a:rPr lang="en-US" sz="2000" dirty="0" err="1"/>
              <a:t>strel</a:t>
            </a:r>
            <a:r>
              <a:rPr lang="en-US" sz="2000" dirty="0"/>
              <a:t>('line',3,90)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se2 =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</a:t>
            </a:r>
            <a:r>
              <a:rPr lang="tr-TR" sz="2000" dirty="0"/>
              <a:t>  </a:t>
            </a:r>
            <a:r>
              <a:rPr lang="en-US" sz="2000" dirty="0"/>
              <a:t>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  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  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composition = </a:t>
            </a:r>
            <a:r>
              <a:rPr lang="en-US" sz="2000" dirty="0" err="1"/>
              <a:t>imdilate</a:t>
            </a:r>
            <a:r>
              <a:rPr lang="en-US" sz="2000" dirty="0"/>
              <a:t>(1,</a:t>
            </a:r>
            <a:r>
              <a:rPr lang="tr-TR" sz="2000" dirty="0"/>
              <a:t> </a:t>
            </a:r>
            <a:r>
              <a:rPr lang="en-US" sz="2000" dirty="0"/>
              <a:t>[se1 se2],'full')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composition =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    1     1     1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    1     1     1</a:t>
            </a:r>
          </a:p>
          <a:p>
            <a:pPr>
              <a:buNone/>
            </a:pPr>
            <a:r>
              <a:rPr lang="tr-TR" sz="2000" dirty="0"/>
              <a:t>	</a:t>
            </a:r>
            <a:r>
              <a:rPr lang="en-US" sz="2000" dirty="0"/>
              <a:t>     1     1     1</a:t>
            </a:r>
            <a:endParaRPr lang="tr-TR" sz="2000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40</a:t>
            </a:fld>
            <a:endParaRPr lang="tr-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Dilating</a:t>
            </a:r>
            <a:endParaRPr lang="tr-TR" b="1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628955"/>
            <a:ext cx="5357850" cy="4229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Metin kutusu"/>
          <p:cNvSpPr txBox="1"/>
          <p:nvPr/>
        </p:nvSpPr>
        <p:spPr>
          <a:xfrm>
            <a:off x="500034" y="1571612"/>
            <a:ext cx="77443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composition = </a:t>
            </a:r>
            <a:r>
              <a:rPr lang="en-US" sz="2400" dirty="0" err="1"/>
              <a:t>imdilate</a:t>
            </a:r>
            <a:r>
              <a:rPr lang="en-US" sz="2400" dirty="0"/>
              <a:t>(</a:t>
            </a:r>
            <a:r>
              <a:rPr lang="tr-TR" sz="2400" dirty="0"/>
              <a:t>F2</a:t>
            </a:r>
            <a:r>
              <a:rPr lang="en-US" sz="2400" dirty="0"/>
              <a:t>,</a:t>
            </a:r>
            <a:r>
              <a:rPr lang="tr-TR" sz="2400" dirty="0"/>
              <a:t> </a:t>
            </a:r>
            <a:r>
              <a:rPr lang="en-US" sz="2400" dirty="0"/>
              <a:t>[se1 se2],'full')</a:t>
            </a:r>
            <a:r>
              <a:rPr lang="tr-TR" sz="2400" dirty="0"/>
              <a:t>;</a:t>
            </a:r>
          </a:p>
          <a:p>
            <a:r>
              <a:rPr lang="tr-TR" sz="2400" dirty="0" err="1"/>
              <a:t>imshow</a:t>
            </a:r>
            <a:r>
              <a:rPr lang="tr-TR" sz="2400" dirty="0"/>
              <a:t>(</a:t>
            </a:r>
            <a:r>
              <a:rPr lang="tr-TR" sz="2400" dirty="0" err="1"/>
              <a:t>composition</a:t>
            </a:r>
            <a:r>
              <a:rPr lang="tr-TR" sz="2400" dirty="0"/>
              <a:t>);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41</a:t>
            </a:fld>
            <a:endParaRPr lang="tr-T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Dilating</a:t>
            </a:r>
            <a:endParaRPr lang="tr-TR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F3=</a:t>
            </a:r>
            <a:r>
              <a:rPr lang="tr-TR" dirty="0" err="1"/>
              <a:t>imread</a:t>
            </a:r>
            <a:r>
              <a:rPr lang="tr-TR" dirty="0"/>
              <a:t>('C:\</a:t>
            </a:r>
            <a:r>
              <a:rPr lang="tr-TR" dirty="0" err="1"/>
              <a:t>weld</a:t>
            </a:r>
            <a:r>
              <a:rPr lang="tr-TR" dirty="0"/>
              <a:t>.</a:t>
            </a:r>
            <a:r>
              <a:rPr lang="tr-TR" dirty="0" err="1"/>
              <a:t>tif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level</a:t>
            </a:r>
            <a:r>
              <a:rPr lang="tr-TR" dirty="0"/>
              <a:t>=0.99;</a:t>
            </a:r>
          </a:p>
          <a:p>
            <a:pPr>
              <a:buNone/>
            </a:pPr>
            <a:r>
              <a:rPr lang="tr-TR" dirty="0"/>
              <a:t>	BW = im2bw(F3,</a:t>
            </a:r>
            <a:r>
              <a:rPr lang="tr-TR" dirty="0" err="1"/>
              <a:t>level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figure;imshow(BW);</a:t>
            </a:r>
          </a:p>
          <a:p>
            <a:pPr>
              <a:buNone/>
            </a:pPr>
            <a:r>
              <a:rPr lang="tr-TR" dirty="0"/>
              <a:t>    se = strel ("square</a:t>
            </a:r>
            <a:r>
              <a:rPr lang="tr-TR"/>
              <a:t>", 3);</a:t>
            </a:r>
            <a:endParaRPr lang="tr-TR" dirty="0"/>
          </a:p>
          <a:p>
            <a:pPr>
              <a:buNone/>
            </a:pPr>
            <a:r>
              <a:rPr lang="tr-TR" dirty="0"/>
              <a:t>    F4= imdilate(BW, se);</a:t>
            </a:r>
          </a:p>
          <a:p>
            <a:pPr>
              <a:buNone/>
            </a:pPr>
            <a:r>
              <a:rPr lang="tr-TR" dirty="0"/>
              <a:t>	imshow(F4);</a:t>
            </a:r>
          </a:p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42</a:t>
            </a:fld>
            <a:endParaRPr lang="tr-TR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DejaVu Sans Mono"/>
              </a:rPr>
              <a:t>se = strel ("square", 5);</a:t>
            </a:r>
            <a:r>
              <a:rPr kumimoji="0" lang="tr-T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Dilating</a:t>
            </a:r>
            <a:endParaRPr lang="tr-TR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571612"/>
            <a:ext cx="3656170" cy="284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14810" y="1571612"/>
            <a:ext cx="3619501" cy="2816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1736" y="4217988"/>
            <a:ext cx="3390331" cy="264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43</a:t>
            </a:fld>
            <a:endParaRPr lang="tr-T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Closing</a:t>
            </a:r>
            <a:r>
              <a:rPr lang="tr-TR" b="1" dirty="0"/>
              <a:t> (Kapama)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originalBW</a:t>
            </a:r>
            <a:r>
              <a:rPr lang="tr-TR" dirty="0"/>
              <a:t> = </a:t>
            </a:r>
            <a:r>
              <a:rPr lang="tr-TR" dirty="0" err="1"/>
              <a:t>imread</a:t>
            </a:r>
            <a:r>
              <a:rPr lang="tr-TR" dirty="0"/>
              <a:t>('</a:t>
            </a:r>
            <a:r>
              <a:rPr lang="tr-TR" dirty="0" err="1"/>
              <a:t>circles</a:t>
            </a:r>
            <a:r>
              <a:rPr lang="tr-TR" dirty="0"/>
              <a:t>.</a:t>
            </a:r>
            <a:r>
              <a:rPr lang="tr-TR" dirty="0" err="1"/>
              <a:t>png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imshow</a:t>
            </a:r>
            <a:r>
              <a:rPr lang="tr-TR" dirty="0"/>
              <a:t>(</a:t>
            </a:r>
            <a:r>
              <a:rPr lang="tr-TR" dirty="0" err="1"/>
              <a:t>originalBW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se</a:t>
            </a:r>
            <a:r>
              <a:rPr lang="tr-TR" dirty="0"/>
              <a:t> = </a:t>
            </a:r>
            <a:r>
              <a:rPr lang="tr-TR" dirty="0" err="1"/>
              <a:t>strel</a:t>
            </a:r>
            <a:r>
              <a:rPr lang="tr-TR" dirty="0"/>
              <a:t>('disk',10);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closeBW</a:t>
            </a:r>
            <a:r>
              <a:rPr lang="tr-TR" dirty="0"/>
              <a:t> = </a:t>
            </a:r>
            <a:r>
              <a:rPr lang="tr-TR" dirty="0" err="1"/>
              <a:t>imclose</a:t>
            </a:r>
            <a:r>
              <a:rPr lang="tr-TR" dirty="0"/>
              <a:t>(</a:t>
            </a:r>
            <a:r>
              <a:rPr lang="tr-TR" dirty="0" err="1"/>
              <a:t>originalBW</a:t>
            </a:r>
            <a:r>
              <a:rPr lang="tr-TR" dirty="0"/>
              <a:t>,</a:t>
            </a:r>
            <a:r>
              <a:rPr lang="tr-TR" dirty="0" err="1"/>
              <a:t>se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</a:t>
            </a:r>
            <a:r>
              <a:rPr lang="tr-TR" dirty="0" err="1"/>
              <a:t>closeBW</a:t>
            </a:r>
            <a:r>
              <a:rPr lang="tr-TR" dirty="0"/>
              <a:t>)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44</a:t>
            </a:fld>
            <a:endParaRPr lang="tr-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Closing</a:t>
            </a:r>
            <a:endParaRPr lang="tr-TR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2000240"/>
            <a:ext cx="482519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5" y="2071678"/>
            <a:ext cx="4737467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45</a:t>
            </a:fld>
            <a:endParaRPr lang="tr-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Opening</a:t>
            </a:r>
            <a:r>
              <a:rPr lang="tr-TR" b="1" dirty="0"/>
              <a:t> (Açma)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I = </a:t>
            </a:r>
            <a:r>
              <a:rPr lang="tr-TR" dirty="0" err="1"/>
              <a:t>imread</a:t>
            </a:r>
            <a:r>
              <a:rPr lang="tr-TR" dirty="0"/>
              <a:t>('</a:t>
            </a:r>
            <a:r>
              <a:rPr lang="tr-TR" dirty="0" err="1"/>
              <a:t>snowflakes</a:t>
            </a:r>
            <a:r>
              <a:rPr lang="tr-TR" dirty="0"/>
              <a:t>.</a:t>
            </a:r>
            <a:r>
              <a:rPr lang="tr-TR" dirty="0" err="1"/>
              <a:t>png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imshow</a:t>
            </a:r>
            <a:r>
              <a:rPr lang="tr-TR" dirty="0"/>
              <a:t>(I);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se</a:t>
            </a:r>
            <a:r>
              <a:rPr lang="tr-TR" dirty="0"/>
              <a:t> = </a:t>
            </a:r>
            <a:r>
              <a:rPr lang="tr-TR" dirty="0" err="1"/>
              <a:t>strel</a:t>
            </a:r>
            <a:r>
              <a:rPr lang="tr-TR" dirty="0"/>
              <a:t>('disk',5);</a:t>
            </a:r>
          </a:p>
          <a:p>
            <a:pPr>
              <a:buNone/>
            </a:pPr>
            <a:r>
              <a:rPr lang="tr-TR" dirty="0"/>
              <a:t>	I_</a:t>
            </a:r>
            <a:r>
              <a:rPr lang="tr-TR" dirty="0" err="1"/>
              <a:t>opened</a:t>
            </a:r>
            <a:r>
              <a:rPr lang="tr-TR" dirty="0"/>
              <a:t> = </a:t>
            </a:r>
            <a:r>
              <a:rPr lang="tr-TR" dirty="0" err="1"/>
              <a:t>imopen</a:t>
            </a:r>
            <a:r>
              <a:rPr lang="tr-TR" dirty="0"/>
              <a:t>(I,</a:t>
            </a:r>
            <a:r>
              <a:rPr lang="tr-TR" dirty="0" err="1"/>
              <a:t>se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(I_</a:t>
            </a:r>
            <a:r>
              <a:rPr lang="tr-TR" dirty="0" err="1"/>
              <a:t>opened</a:t>
            </a:r>
            <a:r>
              <a:rPr lang="tr-TR" dirty="0"/>
              <a:t>);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46</a:t>
            </a:fld>
            <a:endParaRPr lang="tr-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/>
              <a:t>Opening</a:t>
            </a:r>
            <a:endParaRPr lang="tr-TR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1428736"/>
            <a:ext cx="739602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5786" y="3714752"/>
            <a:ext cx="7396020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47</a:t>
            </a:fld>
            <a:endParaRPr lang="tr-T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Outlining</a:t>
            </a:r>
            <a:endParaRPr lang="tr-TR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056" y="1412776"/>
            <a:ext cx="4448175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Dikdörtgen"/>
          <p:cNvSpPr/>
          <p:nvPr/>
        </p:nvSpPr>
        <p:spPr>
          <a:xfrm>
            <a:off x="285720" y="2214554"/>
            <a:ext cx="5078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dirty="0"/>
              <a:t>F4=</a:t>
            </a:r>
            <a:r>
              <a:rPr lang="tr-TR" sz="2800" dirty="0" err="1"/>
              <a:t>imsubtract</a:t>
            </a:r>
            <a:r>
              <a:rPr lang="tr-TR" sz="2800" dirty="0"/>
              <a:t>(F1,</a:t>
            </a:r>
            <a:r>
              <a:rPr lang="tr-TR" sz="2800" dirty="0" err="1"/>
              <a:t>erodedBW</a:t>
            </a:r>
            <a:r>
              <a:rPr lang="tr-TR" sz="2800" dirty="0"/>
              <a:t>);</a:t>
            </a:r>
          </a:p>
          <a:p>
            <a:r>
              <a:rPr lang="tr-TR" sz="2800" dirty="0" err="1"/>
              <a:t>imshow</a:t>
            </a:r>
            <a:r>
              <a:rPr lang="tr-TR" sz="2800" dirty="0"/>
              <a:t>(F4);</a:t>
            </a: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48</a:t>
            </a:fld>
            <a:endParaRPr lang="tr-T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Morphological Gradient</a:t>
            </a:r>
            <a:endParaRPr lang="tr-TR" b="1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se</a:t>
            </a:r>
            <a:r>
              <a:rPr lang="tr-TR" dirty="0"/>
              <a:t>=[1 1 1; 1 1 1;1 1 1];</a:t>
            </a:r>
          </a:p>
          <a:p>
            <a:pPr>
              <a:buNone/>
            </a:pPr>
            <a:r>
              <a:rPr lang="tr-TR" dirty="0"/>
              <a:t>	I_</a:t>
            </a:r>
            <a:r>
              <a:rPr lang="tr-TR" dirty="0" err="1"/>
              <a:t>eroded</a:t>
            </a:r>
            <a:r>
              <a:rPr lang="tr-TR" dirty="0"/>
              <a:t> = </a:t>
            </a:r>
            <a:r>
              <a:rPr lang="tr-TR" dirty="0" err="1"/>
              <a:t>imerode</a:t>
            </a:r>
            <a:r>
              <a:rPr lang="tr-TR" dirty="0"/>
              <a:t>(I,</a:t>
            </a:r>
            <a:r>
              <a:rPr lang="tr-TR" dirty="0" err="1"/>
              <a:t>se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(I_</a:t>
            </a:r>
            <a:r>
              <a:rPr lang="tr-TR" dirty="0" err="1"/>
              <a:t>eroded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I_</a:t>
            </a:r>
            <a:r>
              <a:rPr lang="tr-TR" dirty="0" err="1"/>
              <a:t>dilated</a:t>
            </a:r>
            <a:r>
              <a:rPr lang="tr-TR" dirty="0"/>
              <a:t> = </a:t>
            </a:r>
            <a:r>
              <a:rPr lang="tr-TR" dirty="0" err="1"/>
              <a:t>imdilate</a:t>
            </a:r>
            <a:r>
              <a:rPr lang="tr-TR" dirty="0"/>
              <a:t>(I,</a:t>
            </a:r>
            <a:r>
              <a:rPr lang="tr-TR" dirty="0" err="1"/>
              <a:t>se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(I_</a:t>
            </a:r>
            <a:r>
              <a:rPr lang="tr-TR" dirty="0" err="1"/>
              <a:t>dilated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F5=</a:t>
            </a:r>
            <a:r>
              <a:rPr lang="tr-TR" dirty="0" err="1"/>
              <a:t>imsubtract</a:t>
            </a:r>
            <a:r>
              <a:rPr lang="tr-TR" dirty="0"/>
              <a:t>(I_</a:t>
            </a:r>
            <a:r>
              <a:rPr lang="tr-TR" dirty="0" err="1"/>
              <a:t>dilated</a:t>
            </a:r>
            <a:r>
              <a:rPr lang="tr-TR" dirty="0"/>
              <a:t>,I_</a:t>
            </a:r>
            <a:r>
              <a:rPr lang="tr-TR" dirty="0" err="1"/>
              <a:t>eroded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(F5);</a:t>
            </a:r>
          </a:p>
          <a:p>
            <a:pPr>
              <a:buNone/>
            </a:pPr>
            <a:r>
              <a:rPr lang="tr-TR" dirty="0"/>
              <a:t>	F6=</a:t>
            </a:r>
            <a:r>
              <a:rPr lang="tr-TR" dirty="0" err="1"/>
              <a:t>imsubtract</a:t>
            </a:r>
            <a:r>
              <a:rPr lang="tr-TR" dirty="0"/>
              <a:t>(I_</a:t>
            </a:r>
            <a:r>
              <a:rPr lang="tr-TR" dirty="0" err="1"/>
              <a:t>eroded</a:t>
            </a:r>
            <a:r>
              <a:rPr lang="tr-TR" dirty="0"/>
              <a:t>,I_</a:t>
            </a:r>
            <a:r>
              <a:rPr lang="tr-TR" dirty="0" err="1"/>
              <a:t>dilated</a:t>
            </a:r>
            <a:r>
              <a:rPr lang="tr-TR" dirty="0"/>
              <a:t>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(F6);</a:t>
            </a: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49</a:t>
            </a:fld>
            <a:endParaRPr lang="tr-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itchFamily="34" charset="0"/>
                <a:ea typeface="Times New Roman" pitchFamily="18" charset="0"/>
                <a:cs typeface="Arial" pitchFamily="34" charset="0"/>
              </a:rPr>
              <a:t>Morphological Gradient</a:t>
            </a:r>
            <a:endParaRPr lang="tr-T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214422"/>
            <a:ext cx="7006756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2910" y="3000372"/>
            <a:ext cx="6929486" cy="250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10" y="4714884"/>
            <a:ext cx="6929486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50</a:t>
            </a:fld>
            <a:endParaRPr lang="tr-T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imfill</a:t>
            </a:r>
            <a:r>
              <a:rPr lang="tr-TR" dirty="0"/>
              <a:t>()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/>
              <a:t>	BW4 = im2bw(</a:t>
            </a:r>
            <a:r>
              <a:rPr lang="tr-TR" dirty="0" err="1"/>
              <a:t>imread</a:t>
            </a:r>
            <a:r>
              <a:rPr lang="tr-TR" dirty="0"/>
              <a:t>('</a:t>
            </a:r>
            <a:r>
              <a:rPr lang="tr-TR" dirty="0" err="1"/>
              <a:t>coins</a:t>
            </a:r>
            <a:r>
              <a:rPr lang="tr-TR" dirty="0"/>
              <a:t>.</a:t>
            </a:r>
            <a:r>
              <a:rPr lang="tr-TR" dirty="0" err="1"/>
              <a:t>png</a:t>
            </a:r>
            <a:r>
              <a:rPr lang="tr-TR" dirty="0"/>
              <a:t>'));</a:t>
            </a:r>
          </a:p>
          <a:p>
            <a:pPr>
              <a:buNone/>
            </a:pPr>
            <a:r>
              <a:rPr lang="tr-TR" dirty="0"/>
              <a:t>	BW5 = </a:t>
            </a:r>
            <a:r>
              <a:rPr lang="tr-TR" dirty="0" err="1"/>
              <a:t>imfill</a:t>
            </a:r>
            <a:r>
              <a:rPr lang="tr-TR" dirty="0"/>
              <a:t>(BW4,'</a:t>
            </a:r>
            <a:r>
              <a:rPr lang="tr-TR" dirty="0" err="1"/>
              <a:t>holes</a:t>
            </a:r>
            <a:r>
              <a:rPr lang="tr-TR" dirty="0"/>
              <a:t>');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err="1"/>
              <a:t>imshow</a:t>
            </a:r>
            <a:r>
              <a:rPr lang="tr-TR" dirty="0"/>
              <a:t>(BW4), </a:t>
            </a:r>
            <a:r>
              <a:rPr lang="tr-TR" dirty="0" err="1"/>
              <a:t>figure</a:t>
            </a:r>
            <a:r>
              <a:rPr lang="tr-TR" dirty="0"/>
              <a:t>, </a:t>
            </a:r>
            <a:r>
              <a:rPr lang="tr-TR" dirty="0" err="1"/>
              <a:t>imshow</a:t>
            </a:r>
            <a:r>
              <a:rPr lang="tr-TR" dirty="0"/>
              <a:t>(BW5)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3357562"/>
            <a:ext cx="44196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43372" y="3357562"/>
            <a:ext cx="44196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51</a:t>
            </a:fld>
            <a:endParaRPr lang="tr-T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5896" y="1700808"/>
            <a:ext cx="3280792" cy="4525963"/>
          </a:xfrm>
        </p:spPr>
        <p:txBody>
          <a:bodyPr/>
          <a:lstStyle/>
          <a:p>
            <a:pPr marL="36576" indent="0">
              <a:buNone/>
            </a:pPr>
            <a:r>
              <a:rPr lang="tr-TR" dirty="0"/>
              <a:t>genişleme</a:t>
            </a:r>
          </a:p>
          <a:p>
            <a:pPr marL="36576" indent="0">
              <a:buNone/>
            </a:pPr>
            <a:endParaRPr lang="tr-TR" dirty="0"/>
          </a:p>
          <a:p>
            <a:pPr marL="36576" indent="0">
              <a:buNone/>
            </a:pPr>
            <a:r>
              <a:rPr lang="tr-TR" dirty="0"/>
              <a:t>aşınma</a:t>
            </a:r>
          </a:p>
          <a:p>
            <a:pPr marL="36576" indent="0">
              <a:buNone/>
            </a:pPr>
            <a:endParaRPr lang="tr-TR" dirty="0"/>
          </a:p>
          <a:p>
            <a:pPr marL="36576" indent="0">
              <a:buNone/>
            </a:pPr>
            <a:r>
              <a:rPr lang="tr-TR" dirty="0"/>
              <a:t>açma</a:t>
            </a:r>
          </a:p>
          <a:p>
            <a:pPr marL="36576" indent="0">
              <a:buNone/>
            </a:pPr>
            <a:endParaRPr lang="tr-TR" dirty="0"/>
          </a:p>
          <a:p>
            <a:pPr marL="36576" indent="0">
              <a:buNone/>
            </a:pPr>
            <a:r>
              <a:rPr lang="tr-TR" dirty="0"/>
              <a:t>kapama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52</a:t>
            </a:fld>
            <a:endParaRPr lang="tr-TR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844824"/>
            <a:ext cx="885825" cy="485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757785"/>
            <a:ext cx="857250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3858239"/>
            <a:ext cx="2286000" cy="523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1057" y="4987269"/>
            <a:ext cx="21621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4841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5400000">
            <a:off x="1321571" y="-964437"/>
            <a:ext cx="6500858" cy="885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6A31F-AA39-4101-9270-11CFBB03BC01}" type="slidenum">
              <a:rPr lang="tr-TR" smtClean="0"/>
              <a:pPr/>
              <a:t>53</a:t>
            </a:fld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knik">
  <a:themeElements>
    <a:clrScheme name="Teknik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knik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knik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1939</TotalTime>
  <Words>2700</Words>
  <Application>Microsoft Office PowerPoint</Application>
  <PresentationFormat>Ekran Gösterisi (4:3)</PresentationFormat>
  <Paragraphs>313</Paragraphs>
  <Slides>53</Slides>
  <Notes>9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53</vt:i4>
      </vt:variant>
    </vt:vector>
  </HeadingPairs>
  <TitlesOfParts>
    <vt:vector size="61" baseType="lpstr">
      <vt:lpstr>Arial</vt:lpstr>
      <vt:lpstr>Calibri</vt:lpstr>
      <vt:lpstr>DejaVu Sans Mono</vt:lpstr>
      <vt:lpstr>Franklin Gothic Book</vt:lpstr>
      <vt:lpstr>Symbol</vt:lpstr>
      <vt:lpstr>Wingdings 2</vt:lpstr>
      <vt:lpstr>Teknik</vt:lpstr>
      <vt:lpstr>Equation</vt:lpstr>
      <vt:lpstr>Bilgisayar Görmesi Ders 9:Parçalara Ayırma</vt:lpstr>
      <vt:lpstr>Görüntüyü Parçalara Ayırma </vt:lpstr>
      <vt:lpstr>Görüntüyü Parçalara Ayırma </vt:lpstr>
      <vt:lpstr>Sınır Takibi</vt:lpstr>
      <vt:lpstr>Sınır Takibi</vt:lpstr>
      <vt:lpstr>Sınır Takibi</vt:lpstr>
      <vt:lpstr>Bölge Genişletme </vt:lpstr>
      <vt:lpstr>Bölge Genişletme </vt:lpstr>
      <vt:lpstr>Bölge Genişletme Örneği</vt:lpstr>
      <vt:lpstr>PowerPoint Sunusu</vt:lpstr>
      <vt:lpstr>Bölge Genişletme Örneği</vt:lpstr>
      <vt:lpstr>PowerPoint Sunusu</vt:lpstr>
      <vt:lpstr>K-means kullanarak parçalara ayırma</vt:lpstr>
      <vt:lpstr>İkili (Binary) Görüntüler</vt:lpstr>
      <vt:lpstr>İkili Görüntü İşleme</vt:lpstr>
      <vt:lpstr>Yapılandırma Elemanı</vt:lpstr>
      <vt:lpstr>MORFOLOJİK  VE DİĞER ALAN İŞLEMLERİ</vt:lpstr>
      <vt:lpstr>Temel Morfolojik İşlemler</vt:lpstr>
      <vt:lpstr>Temel Morfolojik İşlemler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Morfolojik işlemlerin Matlab Uygulamaları</vt:lpstr>
      <vt:lpstr>Eroding (Aşınma)</vt:lpstr>
      <vt:lpstr>PowerPoint Sunusu</vt:lpstr>
      <vt:lpstr>Dilating (Genişleme)</vt:lpstr>
      <vt:lpstr>PowerPoint Sunusu</vt:lpstr>
      <vt:lpstr>Dilating</vt:lpstr>
      <vt:lpstr>Dilating</vt:lpstr>
      <vt:lpstr>Dilating</vt:lpstr>
      <vt:lpstr>Dilating</vt:lpstr>
      <vt:lpstr>Closing (Kapama)</vt:lpstr>
      <vt:lpstr>Closing</vt:lpstr>
      <vt:lpstr>Opening (Açma)</vt:lpstr>
      <vt:lpstr>Opening</vt:lpstr>
      <vt:lpstr>Outlining</vt:lpstr>
      <vt:lpstr>Morphological Gradient</vt:lpstr>
      <vt:lpstr>Morphological Gradient</vt:lpstr>
      <vt:lpstr>imfill()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Ders 8:</dc:title>
  <dc:creator>SERAP</dc:creator>
  <cp:lastModifiedBy>Serap Çakar</cp:lastModifiedBy>
  <cp:revision>315</cp:revision>
  <dcterms:created xsi:type="dcterms:W3CDTF">2010-03-05T11:59:07Z</dcterms:created>
  <dcterms:modified xsi:type="dcterms:W3CDTF">2025-04-19T12:36:37Z</dcterms:modified>
</cp:coreProperties>
</file>